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2" r:id="rId5"/>
    <p:sldId id="264" r:id="rId6"/>
  </p:sldIdLst>
  <p:sldSz cx="12192000" cy="6858000"/>
  <p:notesSz cx="6858000" cy="12192000"/>
  <p:embeddedFontLst>
    <p:embeddedFont>
      <p:font typeface="Inter" panose="020B0604020202020204" charset="0"/>
      <p:regular r:id="rId8"/>
      <p:bold r:id="rId9"/>
    </p:embeddedFont>
    <p:embeddedFont>
      <p:font typeface="Montserrat" panose="00000500000000000000" pitchFamily="2" charset="0"/>
      <p:regular r:id="rId10"/>
      <p:bold r:id="rId11"/>
    </p:embeddedFont>
    <p:embeddedFont>
      <p:font typeface="Open Sans" panose="020B0606030504020204" pitchFamily="34" charset="0"/>
      <p:regular r:id="rId12"/>
      <p:bold r:id="rId13"/>
      <p:italic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81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27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2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Tela de computador com luz azul&#10;&#10;O conteúdo gerado por IA pode estar incorreto.">
            <a:extLst>
              <a:ext uri="{FF2B5EF4-FFF2-40B4-BE49-F238E27FC236}">
                <a16:creationId xmlns:a16="http://schemas.microsoft.com/office/drawing/2014/main" id="{1A7CCEE6-8290-F220-43B0-362797FAE2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47624" y="18663"/>
            <a:ext cx="12239624" cy="683141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16740" y="-69322"/>
            <a:ext cx="6309622" cy="28912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6750"/>
              </a:lnSpc>
              <a:buNone/>
            </a:pPr>
            <a:r>
              <a:rPr lang="en-US" sz="5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</a:t>
            </a:r>
            <a:r>
              <a:rPr lang="en-US" sz="5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54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Queimadas</a:t>
            </a:r>
            <a:r>
              <a:rPr lang="en-US" sz="5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5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Python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9" name="Text 2"/>
          <p:cNvSpPr/>
          <p:nvPr/>
        </p:nvSpPr>
        <p:spPr>
          <a:xfrm>
            <a:off x="335902" y="3348405"/>
            <a:ext cx="4106779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completo de dados: do Web Scraping à Visualização Geográfica Interativa em tempo real.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0" name="Text 3"/>
          <p:cNvSpPr/>
          <p:nvPr/>
        </p:nvSpPr>
        <p:spPr>
          <a:xfrm>
            <a:off x="216740" y="6258003"/>
            <a:ext cx="3692787" cy="2245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11"/>
              </a:lnSpc>
              <a:buNone/>
            </a:pPr>
            <a:r>
              <a:rPr lang="en-US" sz="1600" b="1" kern="0" spc="43" dirty="0">
                <a:solidFill>
                  <a:schemeClr val="bg1"/>
                </a:solidFill>
                <a:latin typeface="Inter" pitchFamily="34" charset="0"/>
              </a:rPr>
              <a:t>Aluna: Sabrina Caldas Rodrigues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92" y="351692"/>
            <a:ext cx="11488615" cy="83824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92" y="1424400"/>
            <a:ext cx="3673193" cy="346998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289" y="1600246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3770" y="2003227"/>
            <a:ext cx="468923" cy="4689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538" y="3169352"/>
            <a:ext cx="131885" cy="1419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38" y="3399234"/>
            <a:ext cx="131885" cy="1419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538" y="3629117"/>
            <a:ext cx="131885" cy="1419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9346" y="1424400"/>
            <a:ext cx="3673193" cy="346998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308" y="1600246"/>
            <a:ext cx="322384" cy="29307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193" y="2766372"/>
            <a:ext cx="131885" cy="1419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5193" y="2996254"/>
            <a:ext cx="131885" cy="1419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5193" y="3226136"/>
            <a:ext cx="131885" cy="1419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7001" y="1424400"/>
            <a:ext cx="3673307" cy="346998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42077" y="1600246"/>
            <a:ext cx="322384" cy="29307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2847" y="2766372"/>
            <a:ext cx="131884" cy="14195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2847" y="2996254"/>
            <a:ext cx="131884" cy="1419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2847" y="3226136"/>
            <a:ext cx="131884" cy="14195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692" y="5246077"/>
            <a:ext cx="11488615" cy="126023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94538" y="5685692"/>
            <a:ext cx="468923" cy="46892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15433" y="5801664"/>
            <a:ext cx="227135" cy="23698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38625" y="6000750"/>
            <a:ext cx="351692" cy="1465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92212" y="5685692"/>
            <a:ext cx="468923" cy="468923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3106" y="5801664"/>
            <a:ext cx="227135" cy="23698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63029" y="6000750"/>
            <a:ext cx="351692" cy="1465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43346" y="5685692"/>
            <a:ext cx="468923" cy="468923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49587" y="5801778"/>
            <a:ext cx="256442" cy="236637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0894" y="6000750"/>
            <a:ext cx="351692" cy="14654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98144" y="5685692"/>
            <a:ext cx="468923" cy="468923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33692" y="5801435"/>
            <a:ext cx="197827" cy="237324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51692" y="351692"/>
            <a:ext cx="11840308" cy="4572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D5A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Bibliotecas de Manipulação e Sistema</a:t>
            </a:r>
            <a:endParaRPr lang="en-US" sz="3600" dirty="0"/>
          </a:p>
        </p:txBody>
      </p:sp>
      <p:sp>
        <p:nvSpPr>
          <p:cNvPr id="33" name="Text 1"/>
          <p:cNvSpPr/>
          <p:nvPr/>
        </p:nvSpPr>
        <p:spPr>
          <a:xfrm>
            <a:off x="351692" y="867554"/>
            <a:ext cx="11840308" cy="2051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5"/>
              </a:lnSpc>
              <a:buNone/>
            </a:pPr>
            <a:r>
              <a:rPr lang="en-US" sz="15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alicerce para a gestão de arquivos e o processamento de dados estruturados.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527538" y="1625890"/>
            <a:ext cx="2139696" cy="234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2D5A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1800" dirty="0"/>
          </a:p>
        </p:txBody>
      </p:sp>
      <p:sp>
        <p:nvSpPr>
          <p:cNvPr id="35" name="Text 3"/>
          <p:cNvSpPr/>
          <p:nvPr/>
        </p:nvSpPr>
        <p:spPr>
          <a:xfrm>
            <a:off x="527538" y="2589380"/>
            <a:ext cx="3321500" cy="4334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biblioteca fundamental para análise de dados. No projeto, ela atua como o motor de processamento.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718038" y="3140045"/>
            <a:ext cx="8737092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Leitura e limpeza de arquivos CSV do INPE.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718038" y="3369927"/>
            <a:ext cx="9569196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de DataFrames para manipulação rápida.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718038" y="3599809"/>
            <a:ext cx="9153144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Enriquecimento com colunas de cidade/estado.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4435193" y="1629554"/>
            <a:ext cx="4992624" cy="2344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2D5A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pathlib (Path)</a:t>
            </a:r>
            <a:endParaRPr lang="en-US" sz="1800" dirty="0"/>
          </a:p>
        </p:txBody>
      </p:sp>
      <p:sp>
        <p:nvSpPr>
          <p:cNvPr id="40" name="Text 8"/>
          <p:cNvSpPr/>
          <p:nvPr/>
        </p:nvSpPr>
        <p:spPr>
          <a:xfrm>
            <a:off x="4435193" y="2186400"/>
            <a:ext cx="3321500" cy="4334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padrão para manipulação de caminhos de arquivos de forma moderna e orientada a objetos.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4625693" y="2737064"/>
            <a:ext cx="7566307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inteligente das pastase.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4625693" y="2966946"/>
            <a:ext cx="7566307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Verificação automática de existência de diretórios.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4625693" y="3196828"/>
            <a:ext cx="3321500" cy="2930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Navegação multiplataforma (Windows/Linux/Mac).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8342847" y="1629554"/>
            <a:ext cx="713232" cy="2344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6"/>
              </a:lnSpc>
              <a:buNone/>
            </a:pPr>
            <a:r>
              <a:rPr lang="en-US" sz="1800" b="1" dirty="0">
                <a:solidFill>
                  <a:srgbClr val="2D5A2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</a:t>
            </a:r>
            <a:endParaRPr lang="en-US" sz="1800" dirty="0"/>
          </a:p>
        </p:txBody>
      </p:sp>
      <p:sp>
        <p:nvSpPr>
          <p:cNvPr id="45" name="Text 13"/>
          <p:cNvSpPr/>
          <p:nvPr/>
        </p:nvSpPr>
        <p:spPr>
          <a:xfrm>
            <a:off x="8342847" y="2186400"/>
            <a:ext cx="3321614" cy="4334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direta com o sistema operacional para operações de arquivo de baixo nível.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8533347" y="2737064"/>
            <a:ext cx="3658653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Extração de metadados dos arquivos baixados.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8533347" y="2966946"/>
            <a:ext cx="3658653" cy="171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dinâmica do CSV mais recente.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8533347" y="3196828"/>
            <a:ext cx="3321614" cy="2930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4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na seleção de dados para processamento.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527538" y="5421923"/>
            <a:ext cx="11136923" cy="146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54"/>
              </a:lnSpc>
              <a:buNone/>
            </a:pPr>
            <a:r>
              <a:rPr lang="en-US" sz="1050" b="1" kern="0" spc="109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DE DADOS: SISTEMA &amp; MANIPULAÇÃO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2853837" y="6213231"/>
            <a:ext cx="3922776" cy="11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3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Localizar (os/pathlib)</a:t>
            </a: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4824779" y="6213231"/>
            <a:ext cx="3031236" cy="11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3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Carregar (pandas)</a:t>
            </a:r>
            <a:endParaRPr lang="en-US" sz="900" dirty="0"/>
          </a:p>
        </p:txBody>
      </p:sp>
      <p:sp>
        <p:nvSpPr>
          <p:cNvPr id="52" name="Text 20"/>
          <p:cNvSpPr/>
          <p:nvPr/>
        </p:nvSpPr>
        <p:spPr>
          <a:xfrm>
            <a:off x="6649183" y="6213231"/>
            <a:ext cx="2674620" cy="11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3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Tratar (pandas)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8327048" y="6213231"/>
            <a:ext cx="2852928" cy="11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3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Pronto para Mapa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75" y="366575"/>
            <a:ext cx="11458798" cy="9153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408" y="823719"/>
            <a:ext cx="2114964" cy="27493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575" y="1587416"/>
            <a:ext cx="3656677" cy="19550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318" y="1831799"/>
            <a:ext cx="1237189" cy="146629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575" y="3725768"/>
            <a:ext cx="3656677" cy="168013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862" y="4153438"/>
            <a:ext cx="225768" cy="24438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862" y="4581108"/>
            <a:ext cx="239610" cy="24438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862" y="4978231"/>
            <a:ext cx="244383" cy="24438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635" y="1587416"/>
            <a:ext cx="7557738" cy="153467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0922" y="1891940"/>
            <a:ext cx="221711" cy="18137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635" y="3305376"/>
            <a:ext cx="7557738" cy="131809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0922" y="3596297"/>
            <a:ext cx="231734" cy="20846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635" y="4806757"/>
            <a:ext cx="7557738" cy="131809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0922" y="5103644"/>
            <a:ext cx="218370" cy="19653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66575" y="366575"/>
            <a:ext cx="11825425" cy="4571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Geolocalização e Automação Web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366575" y="884815"/>
            <a:ext cx="11825425" cy="2138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4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extração automatizada à inteligência geoespacial.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9832600" y="823719"/>
            <a:ext cx="2359400" cy="2749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3"/>
              </a:lnSpc>
              <a:buNone/>
            </a:pPr>
            <a:r>
              <a:rPr lang="en-US" sz="1050" b="1" kern="0" spc="10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TECNOLÓGICO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549862" y="3909055"/>
            <a:ext cx="3290103" cy="122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2"/>
              </a:lnSpc>
              <a:buNone/>
            </a:pPr>
            <a:r>
              <a:rPr lang="en-US" sz="900" b="1" kern="0" spc="90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AQUISIÇÃO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639835" y="4153438"/>
            <a:ext cx="285116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2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5"/>
          <p:cNvSpPr/>
          <p:nvPr/>
        </p:nvSpPr>
        <p:spPr>
          <a:xfrm>
            <a:off x="897821" y="4122890"/>
            <a:ext cx="2942143" cy="305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autônomo do portal INPE via Playwright.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635301" y="4581108"/>
            <a:ext cx="285116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2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7"/>
          <p:cNvSpPr/>
          <p:nvPr/>
        </p:nvSpPr>
        <p:spPr>
          <a:xfrm>
            <a:off x="911663" y="4550561"/>
            <a:ext cx="2928301" cy="305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coordenadas lat/lon com Reverse Geocoder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633869" y="4978231"/>
            <a:ext cx="285116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2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9"/>
          <p:cNvSpPr/>
          <p:nvPr/>
        </p:nvSpPr>
        <p:spPr>
          <a:xfrm>
            <a:off x="916437" y="5024053"/>
            <a:ext cx="8182795" cy="1527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camadas interativas no Folium.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4855920" y="1770703"/>
            <a:ext cx="7336080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4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Playwright: Automação Web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4855920" y="2076182"/>
            <a:ext cx="6786165" cy="6500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 navegadores modernos (Chromium/Firefox) para realizar tarefas repetitivas. No projeto, automatiza o acesso ao portal de queimadas e o download dos dados mais recentes sem intervenção humana.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4865944" y="3488664"/>
            <a:ext cx="7326056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4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 Geocoder:  Geocodificação Turbo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4865944" y="3794143"/>
            <a:ext cx="6776141" cy="433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pt-BR" sz="1050" b="0" i="1" dirty="0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Realiza a conversão de coordenadas (</a:t>
            </a:r>
            <a:r>
              <a:rPr lang="pt-BR" sz="1050" b="0" i="1" dirty="0" err="1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lat</a:t>
            </a:r>
            <a:r>
              <a:rPr lang="pt-BR" sz="1050" b="0" i="1" dirty="0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/</a:t>
            </a:r>
            <a:r>
              <a:rPr lang="pt-BR" sz="1050" b="0" i="1" dirty="0" err="1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lon</a:t>
            </a:r>
            <a:r>
              <a:rPr lang="pt-BR" sz="1050" b="0" i="1" dirty="0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) em Cidades e Estados em modo offline e </a:t>
            </a:r>
            <a:r>
              <a:rPr lang="pt-BR" sz="1050" b="0" i="1" dirty="0" err="1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ultra-rápido</a:t>
            </a:r>
            <a:r>
              <a:rPr lang="pt-BR" sz="1050" b="0" i="1" dirty="0">
                <a:solidFill>
                  <a:schemeClr val="bg2">
                    <a:lumMod val="25000"/>
                  </a:schemeClr>
                </a:solidFill>
                <a:effectLst/>
                <a:latin typeface="Inter" panose="020B0604020202020204" charset="0"/>
              </a:rPr>
              <a:t>, otimizando o processamento de planilhas gigantes sem travar a rede.</a:t>
            </a:r>
            <a:r>
              <a:rPr lang="en-US" sz="1050" dirty="0">
                <a:solidFill>
                  <a:schemeClr val="bg2">
                    <a:lumMod val="25000"/>
                  </a:schemeClr>
                </a:solidFill>
                <a:latin typeface="Inter" panose="020B060402020202020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>
              <a:solidFill>
                <a:schemeClr val="bg2">
                  <a:lumMod val="25000"/>
                </a:schemeClr>
              </a:solidFill>
              <a:latin typeface="Inter" panose="020B0604020202020204" charset="0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4852579" y="4990044"/>
            <a:ext cx="7339421" cy="244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4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Folium: Visualização Interativa</a:t>
            </a:r>
            <a:endParaRPr lang="en-US" sz="1800" dirty="0"/>
          </a:p>
        </p:txBody>
      </p:sp>
      <p:sp>
        <p:nvSpPr>
          <p:cNvPr id="32" name="Text 15"/>
          <p:cNvSpPr/>
          <p:nvPr/>
        </p:nvSpPr>
        <p:spPr>
          <a:xfrm>
            <a:off x="4852579" y="5295523"/>
            <a:ext cx="6789505" cy="433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entre o processamento Python e a biblioteca Leaflet.js. Cria mapas complexos com camadas de calor e marcadores, gerando arquivos HTML leves e exploráveis em qualquer navegador.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3423869" y="6361597"/>
            <a:ext cx="5344209" cy="1374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962"/>
              </a:lnSpc>
              <a:buNone/>
            </a:pPr>
            <a:r>
              <a:rPr lang="en-US" sz="900" kern="0" spc="9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DE WEB SCRAPING E SISTEMAS DE INFORMAÇÃO GEOGRÁFICA (GIS)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80" y="372380"/>
            <a:ext cx="1497642" cy="18619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80" y="620633"/>
            <a:ext cx="11447173" cy="45723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80" y="1393395"/>
            <a:ext cx="5537336" cy="151800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70" y="1591222"/>
            <a:ext cx="193948" cy="1939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380" y="3159655"/>
            <a:ext cx="5537336" cy="16043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570" y="3358573"/>
            <a:ext cx="162916" cy="19164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570" y="4100181"/>
            <a:ext cx="155158" cy="14546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570" y="4390740"/>
            <a:ext cx="155158" cy="14546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2096" y="1393395"/>
            <a:ext cx="5537457" cy="28859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8286" y="1920933"/>
            <a:ext cx="5166774" cy="217221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2096" y="4465531"/>
            <a:ext cx="2706666" cy="82427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2878" y="4589657"/>
            <a:ext cx="224980" cy="23467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2887" y="4465531"/>
            <a:ext cx="2706666" cy="82427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53669" y="4589657"/>
            <a:ext cx="224980" cy="23467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380" y="5667402"/>
            <a:ext cx="11447173" cy="818097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65475" y="372380"/>
            <a:ext cx="2616108" cy="1861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7"/>
              </a:lnSpc>
              <a:buNone/>
            </a:pPr>
            <a:r>
              <a:rPr lang="en-US" sz="900" b="1" kern="0" spc="8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 01</a:t>
            </a:r>
            <a:endParaRPr lang="en-US" sz="900" dirty="0"/>
          </a:p>
        </p:txBody>
      </p:sp>
      <p:sp>
        <p:nvSpPr>
          <p:cNvPr id="19" name="Text 1"/>
          <p:cNvSpPr/>
          <p:nvPr/>
        </p:nvSpPr>
        <p:spPr>
          <a:xfrm>
            <a:off x="558570" y="620633"/>
            <a:ext cx="11633430" cy="4572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a Emergências</a:t>
            </a:r>
            <a:endParaRPr lang="en-US" sz="3600" dirty="0"/>
          </a:p>
        </p:txBody>
      </p:sp>
      <p:sp>
        <p:nvSpPr>
          <p:cNvPr id="20" name="Text 2"/>
          <p:cNvSpPr/>
          <p:nvPr/>
        </p:nvSpPr>
        <p:spPr>
          <a:xfrm>
            <a:off x="845613" y="1579585"/>
            <a:ext cx="5164956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Desafio (A Dor)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558570" y="1889902"/>
            <a:ext cx="5164956" cy="8353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Brigadistas precisam alocar recursos em regiões de </a:t>
            </a:r>
            <a:r>
              <a:rPr lang="en-US" sz="135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 mil km²</a:t>
            </a:r>
            <a:r>
              <a:rPr lang="en-US" sz="13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 cruzamento manual de fontes (satélites e relatórios) consome horas preciosas, gerando uma visão fragmentada.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814581" y="3345845"/>
            <a:ext cx="5613410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Tecnologia Heroína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558570" y="3656162"/>
            <a:ext cx="10609326" cy="278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 que levava horas, agora leva segundos."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775792" y="4058725"/>
            <a:ext cx="7634207" cy="2284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Playwright: Coleta automática INPE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75792" y="4349283"/>
            <a:ext cx="7409671" cy="2284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Pandas: Processamento instantâneo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468286" y="1579585"/>
            <a:ext cx="5165077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Resposta: Manual vs. Automatizado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6406222" y="4886398"/>
            <a:ext cx="2458412" cy="1551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Rápidas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6406222" y="5041556"/>
            <a:ext cx="2458412" cy="1241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7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Minutos vs Horas</a:t>
            </a:r>
            <a:endParaRPr lang="en-US" sz="900" dirty="0"/>
          </a:p>
        </p:txBody>
      </p:sp>
      <p:sp>
        <p:nvSpPr>
          <p:cNvPr id="29" name="Text 11"/>
          <p:cNvSpPr/>
          <p:nvPr/>
        </p:nvSpPr>
        <p:spPr>
          <a:xfrm>
            <a:off x="9237014" y="4886398"/>
            <a:ext cx="2458412" cy="1551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22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Bioma Protegido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9237014" y="5041556"/>
            <a:ext cx="2458412" cy="1241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7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Redução de danos</a:t>
            </a:r>
            <a:endParaRPr lang="en-US" sz="900" dirty="0"/>
          </a:p>
        </p:txBody>
      </p:sp>
      <p:sp>
        <p:nvSpPr>
          <p:cNvPr id="31" name="Text 13"/>
          <p:cNvSpPr/>
          <p:nvPr/>
        </p:nvSpPr>
        <p:spPr>
          <a:xfrm>
            <a:off x="558570" y="5853592"/>
            <a:ext cx="6446830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Real</a:t>
            </a:r>
            <a:endParaRPr lang="en-US" sz="1500" dirty="0"/>
          </a:p>
        </p:txBody>
      </p:sp>
      <p:sp>
        <p:nvSpPr>
          <p:cNvPr id="32" name="Text 14"/>
          <p:cNvSpPr/>
          <p:nvPr/>
        </p:nvSpPr>
        <p:spPr>
          <a:xfrm>
            <a:off x="558570" y="6070814"/>
            <a:ext cx="11633430" cy="2284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crítica em situações onde cada minuto conta para salvar vidas e biodiversidade.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9810252" y="5874684"/>
            <a:ext cx="1823111" cy="1241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977"/>
              </a:lnSpc>
              <a:buNone/>
            </a:pPr>
            <a:r>
              <a:rPr lang="en-US" sz="900" b="1" kern="0" spc="88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EM</a:t>
            </a:r>
            <a:endParaRPr lang="en-US" sz="900" dirty="0"/>
          </a:p>
        </p:txBody>
      </p:sp>
      <p:sp>
        <p:nvSpPr>
          <p:cNvPr id="34" name="Text 16"/>
          <p:cNvSpPr/>
          <p:nvPr/>
        </p:nvSpPr>
        <p:spPr>
          <a:xfrm>
            <a:off x="9810252" y="5998811"/>
            <a:ext cx="1823111" cy="2792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19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MINUTOS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210" y="1080695"/>
            <a:ext cx="997527" cy="467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64" y="1553279"/>
            <a:ext cx="3565259" cy="21769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45" y="1802660"/>
            <a:ext cx="436418" cy="43641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67" y="1911278"/>
            <a:ext cx="257175" cy="2190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3404" y="1553279"/>
            <a:ext cx="3565259" cy="217697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2786" y="1802660"/>
            <a:ext cx="436418" cy="43641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994" y="1907868"/>
            <a:ext cx="226002" cy="22600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45" y="1553279"/>
            <a:ext cx="3565259" cy="217697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7427" y="1802660"/>
            <a:ext cx="436418" cy="4364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2635" y="1907868"/>
            <a:ext cx="226002" cy="22600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764" y="4229019"/>
            <a:ext cx="11194418" cy="190153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1224" y="4909583"/>
            <a:ext cx="4640231" cy="540408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98764" y="498764"/>
            <a:ext cx="11194418" cy="4572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 e </a:t>
            </a:r>
            <a:r>
              <a:rPr lang="en-US" sz="360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Tecnológico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748145" y="2426115"/>
            <a:ext cx="3911593" cy="21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8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Social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748145" y="2737842"/>
            <a:ext cx="3066495" cy="743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Proteção de vidas humanas e saúde pública através do monitoramento em tempo real de focos críticos.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4562786" y="2426115"/>
            <a:ext cx="5867389" cy="21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8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Preservação Ambiental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4562786" y="2737842"/>
            <a:ext cx="3066495" cy="743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 rápidas para salvar biomas como a Amazônia, reduzindo o impacto das mudanças climáticas.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8377427" y="2426115"/>
            <a:ext cx="3814573" cy="21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8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Corporativo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8377427" y="2737842"/>
            <a:ext cx="3066495" cy="7430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Minimização de perdas bilionárias no agronegócio por meio de alertas proativos e automação.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810491" y="4540746"/>
            <a:ext cx="8801108" cy="2805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0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Urgência em Números</a:t>
            </a:r>
            <a:endParaRPr lang="en-US" sz="2250" dirty="0"/>
          </a:p>
        </p:txBody>
      </p:sp>
      <p:sp>
        <p:nvSpPr>
          <p:cNvPr id="23" name="Text 8"/>
          <p:cNvSpPr/>
          <p:nvPr/>
        </p:nvSpPr>
        <p:spPr>
          <a:xfrm>
            <a:off x="810491" y="4945992"/>
            <a:ext cx="4488873" cy="8728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8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2024, a falta de monitoramento ágil contribuiu para perdas de </a:t>
            </a:r>
            <a:r>
              <a:rPr lang="en-US" sz="1350" b="1" dirty="0">
                <a:solidFill>
                  <a:srgbClr val="F9731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R$ 48 bilhões</a:t>
            </a:r>
            <a:r>
              <a:rPr lang="en-US" sz="135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agronegócio brasileiro. A tecnologia Python reduz o tempo de resposta de </a:t>
            </a:r>
            <a:r>
              <a:rPr lang="en-US" sz="1350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horas para minutos</a:t>
            </a:r>
            <a:r>
              <a:rPr lang="en-US" sz="135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7115297" y="4909583"/>
            <a:ext cx="2097462" cy="3117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55"/>
              </a:lnSpc>
              <a:buNone/>
            </a:pPr>
            <a:r>
              <a:rPr lang="en-US" sz="2700" b="1" dirty="0">
                <a:solidFill>
                  <a:srgbClr val="F9731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79%</a:t>
            </a:r>
            <a:endParaRPr lang="en-US" sz="2700" dirty="0"/>
          </a:p>
        </p:txBody>
      </p:sp>
      <p:sp>
        <p:nvSpPr>
          <p:cNvPr id="25" name="Text 10"/>
          <p:cNvSpPr/>
          <p:nvPr/>
        </p:nvSpPr>
        <p:spPr>
          <a:xfrm>
            <a:off x="7115297" y="5268069"/>
            <a:ext cx="2097462" cy="155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82"/>
              </a:lnSpc>
              <a:buNone/>
            </a:pPr>
            <a:r>
              <a:rPr lang="en-US" sz="900" kern="0" spc="88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AUMENTO EM ÁREAS QUEIMADAS</a:t>
            </a:r>
            <a:endParaRPr lang="en-US" sz="900" dirty="0"/>
          </a:p>
        </p:txBody>
      </p:sp>
      <p:sp>
        <p:nvSpPr>
          <p:cNvPr id="26" name="Text 11"/>
          <p:cNvSpPr/>
          <p:nvPr/>
        </p:nvSpPr>
        <p:spPr>
          <a:xfrm>
            <a:off x="9586831" y="4909583"/>
            <a:ext cx="1794624" cy="3117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55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min</a:t>
            </a:r>
            <a:endParaRPr lang="en-US" sz="2700" dirty="0"/>
          </a:p>
        </p:txBody>
      </p:sp>
      <p:sp>
        <p:nvSpPr>
          <p:cNvPr id="27" name="Text 12"/>
          <p:cNvSpPr/>
          <p:nvPr/>
        </p:nvSpPr>
        <p:spPr>
          <a:xfrm>
            <a:off x="9586831" y="5268069"/>
            <a:ext cx="1794623" cy="155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82"/>
              </a:lnSpc>
              <a:buNone/>
            </a:pPr>
            <a:r>
              <a:rPr lang="en-US" sz="900" kern="0" spc="88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DE PROCESSAMENTO</a:t>
            </a:r>
            <a:endParaRPr lang="en-US" sz="900" dirty="0"/>
          </a:p>
        </p:txBody>
      </p:sp>
      <p:sp>
        <p:nvSpPr>
          <p:cNvPr id="28" name="Text 13"/>
          <p:cNvSpPr/>
          <p:nvPr/>
        </p:nvSpPr>
        <p:spPr>
          <a:xfrm>
            <a:off x="498764" y="6130555"/>
            <a:ext cx="11194418" cy="228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"Tecnologia bem aplicada transforma dados brutos em decisões que salvam o futuro."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586</Words>
  <Application>Microsoft Office PowerPoint</Application>
  <PresentationFormat>Widescreen</PresentationFormat>
  <Paragraphs>78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Inter</vt:lpstr>
      <vt:lpstr>Montserrat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Biinahc Biinahc</cp:lastModifiedBy>
  <cp:revision>4</cp:revision>
  <dcterms:created xsi:type="dcterms:W3CDTF">2026-04-01T01:57:17Z</dcterms:created>
  <dcterms:modified xsi:type="dcterms:W3CDTF">2026-04-06T00:13:57Z</dcterms:modified>
</cp:coreProperties>
</file>