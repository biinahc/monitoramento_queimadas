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99" r:id="rId2"/>
    <p:sldId id="256" r:id="rId3"/>
    <p:sldId id="263" r:id="rId4"/>
    <p:sldId id="265" r:id="rId5"/>
    <p:sldId id="302" r:id="rId6"/>
    <p:sldId id="266" r:id="rId7"/>
    <p:sldId id="268" r:id="rId8"/>
    <p:sldId id="275" r:id="rId9"/>
    <p:sldId id="274" r:id="rId10"/>
    <p:sldId id="290" r:id="rId11"/>
    <p:sldId id="296" r:id="rId12"/>
    <p:sldId id="297" r:id="rId1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33"/>
    <a:srgbClr val="E5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27" d="100"/>
          <a:sy n="227" d="100"/>
        </p:scale>
        <p:origin x="148" y="1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6A16A-609D-4FF2-A682-600C99FC76BA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9C925-F090-4452-A5DC-5E891A3D39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9C925-F090-4452-A5DC-5E891A3D39A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52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9C925-F090-4452-A5DC-5E891A3D39A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517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9C925-F090-4452-A5DC-5E891A3D39A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52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87000"/>
            <a:ext cx="1911985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4513" y="824903"/>
            <a:ext cx="2063750" cy="1766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20910" y="819903"/>
            <a:ext cx="2339340" cy="216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"/>
            <a:ext cx="5759965" cy="3239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3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9"/>
            <a:ext cx="5759988" cy="3239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87000"/>
            <a:ext cx="2225675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A5003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8539" y="1074165"/>
            <a:ext cx="3023235" cy="850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113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25" dirty="0"/>
              <a:t>Modelo</a:t>
            </a:r>
            <a:r>
              <a:rPr spc="-30" dirty="0"/>
              <a:t> </a:t>
            </a:r>
            <a:r>
              <a:rPr spc="-25" dirty="0"/>
              <a:t>de Apresentação</a:t>
            </a:r>
            <a:r>
              <a:rPr spc="-30" dirty="0"/>
              <a:t> </a:t>
            </a:r>
            <a:r>
              <a:rPr spc="105" dirty="0"/>
              <a:t>—</a:t>
            </a:r>
            <a:r>
              <a:rPr spc="-25" dirty="0"/>
              <a:t> </a:t>
            </a:r>
            <a:r>
              <a:rPr spc="-50" dirty="0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7146" y="3091136"/>
            <a:ext cx="1054100" cy="113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5" dirty="0"/>
              <a:t>Prof.</a:t>
            </a:r>
            <a:r>
              <a:rPr spc="15" dirty="0"/>
              <a:t> </a:t>
            </a:r>
            <a:r>
              <a:rPr spc="-20" dirty="0"/>
              <a:t>Anderson</a:t>
            </a:r>
            <a:r>
              <a:rPr spc="-35" dirty="0"/>
              <a:t> </a:t>
            </a:r>
            <a:r>
              <a:rPr spc="-20" dirty="0"/>
              <a:t>Gadelha</a:t>
            </a:r>
            <a:r>
              <a:rPr spc="-35" dirty="0"/>
              <a:t> </a:t>
            </a:r>
            <a:r>
              <a:rPr spc="-20" dirty="0"/>
              <a:t>Fontoura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3730" y="3084989"/>
            <a:ext cx="231140" cy="113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‹nº›</a:t>
            </a:fld>
            <a:r>
              <a:rPr spc="-25" dirty="0"/>
              <a:t>/38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5" Type="http://schemas.openxmlformats.org/officeDocument/2006/relationships/image" Target="../media/image10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hyperlink" Target="https://github.com/biinahc/monitoramento_queimada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Tela de computador com luz azul&#10;&#10;O conteúdo gerado por IA pode estar incorreto.">
            <a:extLst>
              <a:ext uri="{FF2B5EF4-FFF2-40B4-BE49-F238E27FC236}">
                <a16:creationId xmlns:a16="http://schemas.microsoft.com/office/drawing/2014/main" xmlns="" id="{1A7CCEE6-8290-F220-43B0-362797FA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2522" y="9620"/>
            <a:ext cx="5788322" cy="3230691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02500" y="-31990"/>
            <a:ext cx="2983925" cy="11210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92"/>
              </a:lnSpc>
            </a:pPr>
            <a:r>
              <a:rPr lang="en-US" sz="2554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</a:t>
            </a:r>
            <a:r>
              <a:rPr lang="en-US" sz="255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2554" b="1" dirty="0" err="1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Queimadas</a:t>
            </a:r>
            <a:endParaRPr lang="en-US" sz="2554" dirty="0">
              <a:solidFill>
                <a:schemeClr val="bg1"/>
              </a:solidFill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xmlns="" id="{78AB93E5-CA32-952A-B9F3-93D0B3004C5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43475" y="23540"/>
            <a:ext cx="911225" cy="303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2" y="4857"/>
            <a:ext cx="5759988" cy="32399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089" y="193061"/>
            <a:ext cx="1213829" cy="431978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xmlns="" id="{1AFBF877-896A-0F2A-8269-4EFB55C93D5B}"/>
              </a:ext>
            </a:extLst>
          </p:cNvPr>
          <p:cNvSpPr txBox="1"/>
          <p:nvPr/>
        </p:nvSpPr>
        <p:spPr>
          <a:xfrm>
            <a:off x="203314" y="2354163"/>
            <a:ext cx="2981884" cy="6476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sz="1000" spc="-100" dirty="0">
                <a:solidFill>
                  <a:srgbClr val="FFFFFF"/>
                </a:solidFill>
                <a:latin typeface="Trebuchet MS"/>
                <a:cs typeface="Trebuchet MS"/>
              </a:rPr>
              <a:t>Prof.</a:t>
            </a:r>
            <a:r>
              <a:rPr sz="10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1000" spc="-35" dirty="0">
                <a:solidFill>
                  <a:srgbClr val="FFFFFF"/>
                </a:solidFill>
                <a:latin typeface="Trebuchet MS"/>
                <a:cs typeface="Trebuchet MS"/>
              </a:rPr>
              <a:t>Gabriel de Souza Leitão</a:t>
            </a:r>
          </a:p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lang="pt-BR" sz="1000" spc="-35" dirty="0">
                <a:solidFill>
                  <a:srgbClr val="FFFFFF"/>
                </a:solidFill>
                <a:latin typeface="Trebuchet MS"/>
                <a:cs typeface="Trebuchet MS"/>
              </a:rPr>
              <a:t>Mentor Vitor </a:t>
            </a:r>
            <a:r>
              <a:rPr lang="pt-BR" sz="1000" spc="-35" dirty="0" err="1">
                <a:solidFill>
                  <a:srgbClr val="FFFFFF"/>
                </a:solidFill>
                <a:latin typeface="Trebuchet MS"/>
                <a:cs typeface="Trebuchet MS"/>
              </a:rPr>
              <a:t>Bremgartner</a:t>
            </a:r>
            <a:r>
              <a:rPr lang="pt-BR" sz="1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</a:p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AX</a:t>
            </a:r>
            <a:r>
              <a:rPr sz="1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Trebuchet MS"/>
                <a:cs typeface="Trebuchet MS"/>
              </a:rPr>
              <a:t>Academy</a:t>
            </a:r>
            <a:r>
              <a:rPr sz="1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i="1" spc="-70" dirty="0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sz="10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1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Trebuchet MS"/>
                <a:cs typeface="Trebuchet MS"/>
              </a:rPr>
              <a:t>Transformation </a:t>
            </a:r>
            <a:r>
              <a:rPr sz="1000" spc="-10" dirty="0">
                <a:solidFill>
                  <a:srgbClr val="FFFFFF"/>
                </a:solidFill>
                <a:latin typeface="Trebuchet MS"/>
                <a:cs typeface="Trebuchet MS"/>
              </a:rPr>
              <a:t>Abril/2026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xmlns="" id="{50ABCB5B-7278-211E-FF24-ADFD638EE241}"/>
              </a:ext>
            </a:extLst>
          </p:cNvPr>
          <p:cNvSpPr txBox="1"/>
          <p:nvPr/>
        </p:nvSpPr>
        <p:spPr>
          <a:xfrm>
            <a:off x="203314" y="2079625"/>
            <a:ext cx="1536586" cy="200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lang="pt-BR" sz="1000" spc="-100" dirty="0">
                <a:solidFill>
                  <a:srgbClr val="FFFFFF"/>
                </a:solidFill>
                <a:latin typeface="Trebuchet MS"/>
                <a:cs typeface="Trebuchet MS"/>
              </a:rPr>
              <a:t>Aluna: Sabrina Caldas Rodrigues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14706" y="962571"/>
            <a:ext cx="1993786" cy="527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383"/>
              </a:lnSpc>
            </a:pPr>
            <a:r>
              <a:rPr lang="en-US" sz="851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completo de dados: do Web Scraping à Visualização Geográfica Interativa em tempo real.</a:t>
            </a:r>
            <a:endParaRPr lang="en-US" sz="851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94" y="87000"/>
            <a:ext cx="2225675" cy="236710"/>
          </a:xfrm>
          <a:prstGeom prst="rect">
            <a:avLst/>
          </a:prstGeom>
        </p:spPr>
        <p:txBody>
          <a:bodyPr vert="horz" wrap="square" lIns="0" tIns="515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 err="1"/>
              <a:t>Fluxo</a:t>
            </a:r>
            <a:r>
              <a:rPr spc="-85" dirty="0"/>
              <a:t> </a:t>
            </a:r>
            <a:r>
              <a:rPr spc="-75" dirty="0"/>
              <a:t>d</a:t>
            </a:r>
            <a:r>
              <a:rPr lang="pt-BR" spc="-75" dirty="0"/>
              <a:t>a automação</a:t>
            </a:r>
            <a:endParaRPr spc="-65" dirty="0"/>
          </a:p>
        </p:txBody>
      </p:sp>
      <p:sp>
        <p:nvSpPr>
          <p:cNvPr id="3" name="object 3"/>
          <p:cNvSpPr/>
          <p:nvPr/>
        </p:nvSpPr>
        <p:spPr>
          <a:xfrm>
            <a:off x="359994" y="418795"/>
            <a:ext cx="1764030" cy="0"/>
          </a:xfrm>
          <a:custGeom>
            <a:avLst/>
            <a:gdLst/>
            <a:ahLst/>
            <a:cxnLst/>
            <a:rect l="l" t="t" r="r" b="b"/>
            <a:pathLst>
              <a:path w="1764030">
                <a:moveTo>
                  <a:pt x="0" y="0"/>
                </a:moveTo>
                <a:lnTo>
                  <a:pt x="1764030" y="0"/>
                </a:lnTo>
              </a:path>
            </a:pathLst>
          </a:custGeom>
          <a:ln w="12649">
            <a:solidFill>
              <a:srgbClr val="A5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0" y="3099385"/>
            <a:ext cx="5760085" cy="152400"/>
            <a:chOff x="0" y="3088165"/>
            <a:chExt cx="5760085" cy="152400"/>
          </a:xfrm>
        </p:grpSpPr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0" y="3202040"/>
              <a:ext cx="698500" cy="38100"/>
            </a:xfrm>
            <a:custGeom>
              <a:avLst/>
              <a:gdLst/>
              <a:ahLst/>
              <a:cxnLst/>
              <a:rect l="l" t="t" r="r" b="b"/>
              <a:pathLst>
                <a:path w="698500" h="38100">
                  <a:moveTo>
                    <a:pt x="0" y="37958"/>
                  </a:moveTo>
                  <a:lnTo>
                    <a:pt x="0" y="0"/>
                  </a:lnTo>
                  <a:lnTo>
                    <a:pt x="698124" y="0"/>
                  </a:lnTo>
                  <a:lnTo>
                    <a:pt x="698124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698124" cy="37958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xfrm>
            <a:off x="2098352" y="3100549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xmlns="" id="{19478941-6723-67D9-953C-616C8ED34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1" y="566661"/>
            <a:ext cx="3369622" cy="212314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17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202040"/>
              <a:ext cx="1047750" cy="38100"/>
            </a:xfrm>
            <a:custGeom>
              <a:avLst/>
              <a:gdLst/>
              <a:ahLst/>
              <a:cxnLst/>
              <a:rect l="l" t="t" r="r" b="b"/>
              <a:pathLst>
                <a:path w="1047750" h="38100">
                  <a:moveTo>
                    <a:pt x="0" y="37958"/>
                  </a:moveTo>
                  <a:lnTo>
                    <a:pt x="0" y="0"/>
                  </a:lnTo>
                  <a:lnTo>
                    <a:pt x="1047230" y="0"/>
                  </a:lnTo>
                  <a:lnTo>
                    <a:pt x="1047230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202040"/>
              <a:ext cx="1047230" cy="37958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7309" y="2850802"/>
            <a:ext cx="884521" cy="287937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336931" y="3097675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9" y="174154"/>
            <a:ext cx="5419057" cy="432890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67" y="867082"/>
            <a:ext cx="585087" cy="693437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60" y="1762772"/>
            <a:ext cx="1729303" cy="794563"/>
          </a:xfrm>
          <a:prstGeom prst="rect">
            <a:avLst/>
          </a:prstGeom>
          <a:noFill/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4915" y="895524"/>
            <a:ext cx="104851" cy="8577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4915" y="1701543"/>
            <a:ext cx="109591" cy="9858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4915" y="2414392"/>
            <a:ext cx="103271" cy="92944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7" name="Text 0"/>
          <p:cNvSpPr/>
          <p:nvPr/>
        </p:nvSpPr>
        <p:spPr>
          <a:xfrm>
            <a:off x="173359" y="174153"/>
            <a:ext cx="5592441" cy="2161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702"/>
              </a:lnSpc>
            </a:pPr>
            <a:r>
              <a:rPr lang="en-US" sz="1702" b="1" dirty="0" err="1" smtClean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Tecnologias</a:t>
            </a:r>
            <a:r>
              <a:rPr lang="en-US" sz="1702" b="1" dirty="0" smtClean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2" b="1" dirty="0" err="1" smtClean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Utilizadas</a:t>
            </a:r>
            <a:endParaRPr lang="en-US" sz="1702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"/>
          <p:cNvSpPr/>
          <p:nvPr/>
        </p:nvSpPr>
        <p:spPr>
          <a:xfrm>
            <a:off x="173359" y="419238"/>
            <a:ext cx="5592441" cy="1011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96"/>
              </a:lnSpc>
            </a:pPr>
            <a:r>
              <a:rPr lang="en-US" sz="709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extração automatizada à inteligência geoespacial.</a:t>
            </a:r>
            <a:endParaRPr lang="en-US" sz="709" dirty="0">
              <a:solidFill>
                <a:schemeClr val="tx1"/>
              </a:solidFill>
            </a:endParaRPr>
          </a:p>
        </p:txBody>
      </p:sp>
      <p:sp>
        <p:nvSpPr>
          <p:cNvPr id="40" name="Text 3"/>
          <p:cNvSpPr/>
          <p:nvPr/>
        </p:nvSpPr>
        <p:spPr>
          <a:xfrm>
            <a:off x="260039" y="1849451"/>
            <a:ext cx="1555945" cy="577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spc="43" dirty="0">
                <a:solidFill>
                  <a:srgbClr val="A5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</a:t>
            </a:r>
            <a:r>
              <a:rPr lang="en-US" sz="426" b="1" spc="43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</a:t>
            </a:r>
            <a:r>
              <a:rPr lang="en-US" sz="426" b="1" spc="43" dirty="0">
                <a:solidFill>
                  <a:srgbClr val="A5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AQUISIÇÃO</a:t>
            </a:r>
            <a:endParaRPr lang="en-US" sz="426" dirty="0">
              <a:solidFill>
                <a:srgbClr val="A50033"/>
              </a:solidFill>
            </a:endParaRPr>
          </a:p>
        </p:txBody>
      </p:sp>
      <p:sp>
        <p:nvSpPr>
          <p:cNvPr id="41" name="Text 4"/>
          <p:cNvSpPr/>
          <p:nvPr/>
        </p:nvSpPr>
        <p:spPr>
          <a:xfrm>
            <a:off x="302589" y="1965024"/>
            <a:ext cx="134836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26" dirty="0"/>
          </a:p>
        </p:txBody>
      </p:sp>
      <p:sp>
        <p:nvSpPr>
          <p:cNvPr id="42" name="Text 5"/>
          <p:cNvSpPr/>
          <p:nvPr/>
        </p:nvSpPr>
        <p:spPr>
          <a:xfrm>
            <a:off x="424595" y="1950577"/>
            <a:ext cx="1391388" cy="1444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69"/>
              </a:lnSpc>
            </a:pPr>
            <a:r>
              <a:rPr lang="en-US" sz="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autônomo do portal INPE via Playwright.</a:t>
            </a:r>
            <a:endParaRPr lang="en-US" sz="497" dirty="0"/>
          </a:p>
        </p:txBody>
      </p:sp>
      <p:sp>
        <p:nvSpPr>
          <p:cNvPr id="43" name="Text 6"/>
          <p:cNvSpPr/>
          <p:nvPr/>
        </p:nvSpPr>
        <p:spPr>
          <a:xfrm>
            <a:off x="300444" y="2167276"/>
            <a:ext cx="134836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26" dirty="0"/>
          </a:p>
        </p:txBody>
      </p:sp>
      <p:sp>
        <p:nvSpPr>
          <p:cNvPr id="44" name="Text 7"/>
          <p:cNvSpPr/>
          <p:nvPr/>
        </p:nvSpPr>
        <p:spPr>
          <a:xfrm>
            <a:off x="431141" y="2152830"/>
            <a:ext cx="1384842" cy="1444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69"/>
              </a:lnSpc>
            </a:pPr>
            <a:r>
              <a:rPr lang="en-US" sz="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de coordenadas lat/lon com Reverse Geocoder</a:t>
            </a:r>
            <a:endParaRPr lang="en-US" sz="497" dirty="0"/>
          </a:p>
        </p:txBody>
      </p:sp>
      <p:sp>
        <p:nvSpPr>
          <p:cNvPr id="45" name="Text 8"/>
          <p:cNvSpPr/>
          <p:nvPr/>
        </p:nvSpPr>
        <p:spPr>
          <a:xfrm>
            <a:off x="299767" y="2355082"/>
            <a:ext cx="134836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55"/>
              </a:lnSpc>
            </a:pPr>
            <a:r>
              <a:rPr lang="en-US" sz="42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26" dirty="0"/>
          </a:p>
        </p:txBody>
      </p:sp>
      <p:sp>
        <p:nvSpPr>
          <p:cNvPr id="46" name="Text 9"/>
          <p:cNvSpPr/>
          <p:nvPr/>
        </p:nvSpPr>
        <p:spPr>
          <a:xfrm>
            <a:off x="433399" y="2376752"/>
            <a:ext cx="3869780" cy="722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69"/>
              </a:lnSpc>
            </a:pPr>
            <a:r>
              <a:rPr lang="en-US" sz="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camadas interativas no Folium.</a:t>
            </a:r>
            <a:endParaRPr lang="en-US" sz="497" dirty="0"/>
          </a:p>
        </p:txBody>
      </p:sp>
      <p:sp>
        <p:nvSpPr>
          <p:cNvPr id="47" name="Text 10"/>
          <p:cNvSpPr/>
          <p:nvPr/>
        </p:nvSpPr>
        <p:spPr>
          <a:xfrm>
            <a:off x="2296445" y="838189"/>
            <a:ext cx="3469355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851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Playwright: Automação Web</a:t>
            </a:r>
            <a:endParaRPr lang="en-US" sz="85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2296446" y="982655"/>
            <a:ext cx="3209291" cy="3074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7"/>
              </a:lnSpc>
            </a:pPr>
            <a:r>
              <a:rPr lang="en-US" sz="497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 navegadores modernos (Chromium/Firefox) para realizar tarefas repetitivas. No projeto, automatiza o acesso ao portal de queimadas e o download dos dados mais recentes sem intervenção humana.</a:t>
            </a:r>
            <a:endParaRPr lang="en-US" sz="497" dirty="0"/>
          </a:p>
        </p:txBody>
      </p:sp>
      <p:sp>
        <p:nvSpPr>
          <p:cNvPr id="49" name="Text 12"/>
          <p:cNvSpPr/>
          <p:nvPr/>
        </p:nvSpPr>
        <p:spPr>
          <a:xfrm>
            <a:off x="2301186" y="1650641"/>
            <a:ext cx="3464614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851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Reverse Geocoder:  Geocodificação Turbo</a:t>
            </a:r>
            <a:endParaRPr lang="en-US" sz="85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2301186" y="1795107"/>
            <a:ext cx="3204550" cy="204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7"/>
              </a:lnSpc>
            </a:pP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Realiza a conversão de coordenadas (</a:t>
            </a:r>
            <a:r>
              <a:rPr lang="pt-BR" sz="497" i="1" dirty="0" err="1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lat</a:t>
            </a: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/</a:t>
            </a:r>
            <a:r>
              <a:rPr lang="pt-BR" sz="497" i="1" dirty="0" err="1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lon</a:t>
            </a: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) em Cidades e Estados em modo offline e </a:t>
            </a:r>
            <a:r>
              <a:rPr lang="pt-BR" sz="497" i="1" dirty="0" err="1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ultra-rápido</a:t>
            </a:r>
            <a:r>
              <a:rPr lang="pt-BR" sz="497" i="1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</a:rPr>
              <a:t>, otimizando o processamento de planilhas gigantes sem travar a rede.</a:t>
            </a:r>
            <a:r>
              <a:rPr lang="en-US" sz="497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  <a:ea typeface="Inter" pitchFamily="34" charset="-122"/>
                <a:cs typeface="Inter" pitchFamily="34" charset="-120"/>
              </a:rPr>
              <a:t>.</a:t>
            </a:r>
            <a:endParaRPr lang="en-US" sz="497" dirty="0">
              <a:solidFill>
                <a:schemeClr val="bg2">
                  <a:lumMod val="25000"/>
                </a:schemeClr>
              </a:solidFill>
              <a:latin typeface="Inter" panose="020B0604020202020204" charset="0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2294865" y="2360669"/>
            <a:ext cx="3470935" cy="1155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851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Folium: Visualização Interativa</a:t>
            </a:r>
            <a:endParaRPr lang="en-US" sz="85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2294866" y="2505135"/>
            <a:ext cx="3210870" cy="204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7"/>
              </a:lnSpc>
            </a:pPr>
            <a:r>
              <a:rPr lang="en-US" sz="497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entre o processamento Python e a biblioteca Leaflet.js. Cria mapas complexos com camadas de calor e marcadores, gerando arquivos HTML leves e exploráveis em qualquer navegador.</a:t>
            </a:r>
            <a:endParaRPr lang="en-US" sz="497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xmlns="" id="{44B7DBDA-486C-1632-82E7-C0D411BFCBB1}"/>
              </a:ext>
            </a:extLst>
          </p:cNvPr>
          <p:cNvSpPr/>
          <p:nvPr/>
        </p:nvSpPr>
        <p:spPr>
          <a:xfrm>
            <a:off x="178591" y="2691607"/>
            <a:ext cx="3237709" cy="315007"/>
          </a:xfrm>
          <a:prstGeom prst="roundRect">
            <a:avLst/>
          </a:prstGeom>
          <a:solidFill>
            <a:srgbClr val="A50033"/>
          </a:solidFill>
          <a:ln>
            <a:solidFill>
              <a:srgbClr val="A5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xmlns="" id="{01BB1B69-C8DB-344C-8A7A-4E46CA12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0" y="137548"/>
            <a:ext cx="3785458" cy="151202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411" y="79867"/>
            <a:ext cx="2225675" cy="236710"/>
          </a:xfrm>
          <a:prstGeom prst="rect">
            <a:avLst/>
          </a:prstGeom>
        </p:spPr>
        <p:txBody>
          <a:bodyPr vert="horz" wrap="square" lIns="0" tIns="515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114" dirty="0"/>
              <a:t>ESTUDO DE CASO</a:t>
            </a:r>
            <a:endParaRPr spc="-70" dirty="0"/>
          </a:p>
        </p:txBody>
      </p:sp>
      <p:sp>
        <p:nvSpPr>
          <p:cNvPr id="3" name="object 3"/>
          <p:cNvSpPr/>
          <p:nvPr/>
        </p:nvSpPr>
        <p:spPr>
          <a:xfrm flipV="1">
            <a:off x="241680" y="286864"/>
            <a:ext cx="1151306" cy="45719"/>
          </a:xfrm>
          <a:custGeom>
            <a:avLst/>
            <a:gdLst/>
            <a:ahLst/>
            <a:cxnLst/>
            <a:rect l="l" t="t" r="r" b="b"/>
            <a:pathLst>
              <a:path w="1764030">
                <a:moveTo>
                  <a:pt x="0" y="0"/>
                </a:moveTo>
                <a:lnTo>
                  <a:pt x="1764030" y="0"/>
                </a:lnTo>
              </a:path>
            </a:pathLst>
          </a:custGeom>
          <a:ln w="12649">
            <a:solidFill>
              <a:srgbClr val="A5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202040"/>
              <a:ext cx="1047750" cy="38100"/>
            </a:xfrm>
            <a:custGeom>
              <a:avLst/>
              <a:gdLst/>
              <a:ahLst/>
              <a:cxnLst/>
              <a:rect l="l" t="t" r="r" b="b"/>
              <a:pathLst>
                <a:path w="1047750" h="38100">
                  <a:moveTo>
                    <a:pt x="0" y="37958"/>
                  </a:moveTo>
                  <a:lnTo>
                    <a:pt x="0" y="0"/>
                  </a:lnTo>
                  <a:lnTo>
                    <a:pt x="1047230" y="0"/>
                  </a:lnTo>
                  <a:lnTo>
                    <a:pt x="1047230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202040"/>
              <a:ext cx="1047230" cy="37958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273167" y="3100549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xmlns="" id="{6EDA8168-8B57-3926-0011-1D3D6A2228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157" y="818832"/>
            <a:ext cx="91721" cy="91721"/>
          </a:xfrm>
          <a:prstGeom prst="rect">
            <a:avLst/>
          </a:prstGeom>
        </p:spPr>
      </p:pic>
      <p:pic>
        <p:nvPicPr>
          <p:cNvPr id="53" name="Image 6" descr="preencoded.png">
            <a:extLst>
              <a:ext uri="{FF2B5EF4-FFF2-40B4-BE49-F238E27FC236}">
                <a16:creationId xmlns:a16="http://schemas.microsoft.com/office/drawing/2014/main" xmlns="" id="{0D2DF82D-126C-5797-0A35-8CB53B377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57" y="1589119"/>
            <a:ext cx="77046" cy="90632"/>
          </a:xfrm>
          <a:prstGeom prst="rect">
            <a:avLst/>
          </a:prstGeom>
        </p:spPr>
      </p:pic>
      <p:pic>
        <p:nvPicPr>
          <p:cNvPr id="54" name="Image 7" descr="preencoded.png">
            <a:extLst>
              <a:ext uri="{FF2B5EF4-FFF2-40B4-BE49-F238E27FC236}">
                <a16:creationId xmlns:a16="http://schemas.microsoft.com/office/drawing/2014/main" xmlns="" id="{E7C10E3F-4AC1-BDEF-59E0-6318B3BC97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157" y="1939838"/>
            <a:ext cx="73377" cy="68791"/>
          </a:xfrm>
          <a:prstGeom prst="rect">
            <a:avLst/>
          </a:prstGeom>
        </p:spPr>
      </p:pic>
      <p:pic>
        <p:nvPicPr>
          <p:cNvPr id="55" name="Image 8" descr="preencoded.png">
            <a:extLst>
              <a:ext uri="{FF2B5EF4-FFF2-40B4-BE49-F238E27FC236}">
                <a16:creationId xmlns:a16="http://schemas.microsoft.com/office/drawing/2014/main" xmlns="" id="{1C949450-79C1-7B3F-5C90-105C9D37E4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157" y="2077248"/>
            <a:ext cx="73377" cy="68791"/>
          </a:xfrm>
          <a:prstGeom prst="rect">
            <a:avLst/>
          </a:prstGeom>
        </p:spPr>
      </p:pic>
      <p:pic>
        <p:nvPicPr>
          <p:cNvPr id="57" name="Image 10" descr="preencoded.png">
            <a:extLst>
              <a:ext uri="{FF2B5EF4-FFF2-40B4-BE49-F238E27FC236}">
                <a16:creationId xmlns:a16="http://schemas.microsoft.com/office/drawing/2014/main" xmlns="" id="{3969B47F-D0D7-2784-FCD8-EDD10815EF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8960" y="909235"/>
            <a:ext cx="2398629" cy="1027278"/>
          </a:xfrm>
          <a:prstGeom prst="rect">
            <a:avLst/>
          </a:prstGeom>
        </p:spPr>
      </p:pic>
      <p:pic>
        <p:nvPicPr>
          <p:cNvPr id="58" name="Image 11" descr="preencoded.png">
            <a:extLst>
              <a:ext uri="{FF2B5EF4-FFF2-40B4-BE49-F238E27FC236}">
                <a16:creationId xmlns:a16="http://schemas.microsoft.com/office/drawing/2014/main" xmlns="" id="{A35B55A0-5C14-2921-60A4-E91F3E385C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0908" y="2112618"/>
            <a:ext cx="1280027" cy="389815"/>
          </a:xfrm>
          <a:prstGeom prst="rect">
            <a:avLst/>
          </a:prstGeom>
        </p:spPr>
      </p:pic>
      <p:pic>
        <p:nvPicPr>
          <p:cNvPr id="59" name="Image 12" descr="preencoded.png">
            <a:extLst>
              <a:ext uri="{FF2B5EF4-FFF2-40B4-BE49-F238E27FC236}">
                <a16:creationId xmlns:a16="http://schemas.microsoft.com/office/drawing/2014/main" xmlns="" id="{740E12B3-A3E9-E90F-F001-9B81972731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7694" y="2171319"/>
            <a:ext cx="106397" cy="110983"/>
          </a:xfrm>
          <a:prstGeom prst="rect">
            <a:avLst/>
          </a:prstGeom>
        </p:spPr>
      </p:pic>
      <p:pic>
        <p:nvPicPr>
          <p:cNvPr id="60" name="Image 13" descr="preencoded.png">
            <a:extLst>
              <a:ext uri="{FF2B5EF4-FFF2-40B4-BE49-F238E27FC236}">
                <a16:creationId xmlns:a16="http://schemas.microsoft.com/office/drawing/2014/main" xmlns="" id="{DC7A2DF6-11DB-F0C3-F95A-E97F0545DC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09636" y="2112618"/>
            <a:ext cx="1280027" cy="389815"/>
          </a:xfrm>
          <a:prstGeom prst="rect">
            <a:avLst/>
          </a:prstGeom>
        </p:spPr>
      </p:pic>
      <p:pic>
        <p:nvPicPr>
          <p:cNvPr id="61" name="Image 14" descr="preencoded.png">
            <a:extLst>
              <a:ext uri="{FF2B5EF4-FFF2-40B4-BE49-F238E27FC236}">
                <a16:creationId xmlns:a16="http://schemas.microsoft.com/office/drawing/2014/main" xmlns="" id="{1971A057-F3E8-D366-8FD6-06A0C2C8BB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6423" y="2171319"/>
            <a:ext cx="106397" cy="110983"/>
          </a:xfrm>
          <a:prstGeom prst="rect">
            <a:avLst/>
          </a:prstGeom>
        </p:spPr>
      </p:pic>
      <p:sp>
        <p:nvSpPr>
          <p:cNvPr id="64" name="Text 1">
            <a:extLst>
              <a:ext uri="{FF2B5EF4-FFF2-40B4-BE49-F238E27FC236}">
                <a16:creationId xmlns:a16="http://schemas.microsoft.com/office/drawing/2014/main" xmlns="" id="{BCA6F9BA-05B8-18F9-4EBE-DE1B2C30FBED}"/>
              </a:ext>
            </a:extLst>
          </p:cNvPr>
          <p:cNvSpPr/>
          <p:nvPr/>
        </p:nvSpPr>
        <p:spPr>
          <a:xfrm>
            <a:off x="126110" y="427503"/>
            <a:ext cx="5501643" cy="2162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702"/>
              </a:lnSpc>
            </a:pPr>
            <a:r>
              <a:rPr lang="en-US" sz="1600" b="1" dirty="0">
                <a:solidFill>
                  <a:srgbClr val="A50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 a Emergências</a:t>
            </a:r>
            <a:endParaRPr lang="en-US" sz="1600" dirty="0">
              <a:solidFill>
                <a:srgbClr val="A50033"/>
              </a:solidFill>
            </a:endParaRPr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xmlns="" id="{AA6C046E-F831-6BAC-84DC-D5280F6C1917}"/>
              </a:ext>
            </a:extLst>
          </p:cNvPr>
          <p:cNvSpPr/>
          <p:nvPr/>
        </p:nvSpPr>
        <p:spPr>
          <a:xfrm>
            <a:off x="399904" y="813329"/>
            <a:ext cx="2442594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9"/>
              </a:lnSpc>
            </a:pPr>
            <a:r>
              <a:rPr lang="en-US" sz="709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Desafio (A Dor)</a:t>
            </a:r>
            <a:endParaRPr lang="en-US" sz="709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xmlns="" id="{C8E172F6-617F-C833-ECC4-BC8D6FC4E897}"/>
              </a:ext>
            </a:extLst>
          </p:cNvPr>
          <p:cNvSpPr/>
          <p:nvPr/>
        </p:nvSpPr>
        <p:spPr>
          <a:xfrm>
            <a:off x="264157" y="960083"/>
            <a:ext cx="2442594" cy="3950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038"/>
              </a:lnSpc>
            </a:pPr>
            <a:r>
              <a:rPr lang="en-US" sz="638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Brigadistas precisam alocar recursos em regiões de </a:t>
            </a:r>
            <a:r>
              <a:rPr lang="en-US" sz="638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 mil km²</a:t>
            </a:r>
            <a:r>
              <a:rPr lang="en-US" sz="638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 cruzamento manual de fontes (satélites e relatórios) consome horas preciosas, gerando uma visão fragmentada.</a:t>
            </a:r>
            <a:endParaRPr lang="en-US" sz="638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xmlns="" id="{08548BFC-00D5-EFA4-499F-7C6526A09116}"/>
              </a:ext>
            </a:extLst>
          </p:cNvPr>
          <p:cNvSpPr/>
          <p:nvPr/>
        </p:nvSpPr>
        <p:spPr>
          <a:xfrm>
            <a:off x="385229" y="1583100"/>
            <a:ext cx="2654675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9"/>
              </a:lnSpc>
            </a:pPr>
            <a:r>
              <a:rPr lang="en-US" sz="709" b="1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Tecnologia Heroína</a:t>
            </a:r>
            <a:endParaRPr lang="en-US" sz="709" dirty="0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xmlns="" id="{5E20502F-B196-A375-9DA9-90B5DAF960FC}"/>
              </a:ext>
            </a:extLst>
          </p:cNvPr>
          <p:cNvSpPr/>
          <p:nvPr/>
        </p:nvSpPr>
        <p:spPr>
          <a:xfrm>
            <a:off x="264157" y="1729854"/>
            <a:ext cx="5017327" cy="1316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038"/>
              </a:lnSpc>
            </a:pPr>
            <a:r>
              <a:rPr lang="en-US" sz="638" i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que levava horas, agora leva segundos."</a:t>
            </a:r>
            <a:endParaRPr lang="en-US" sz="638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xmlns="" id="{B66C8B48-C907-449B-7A25-5B8FBE07265D}"/>
              </a:ext>
            </a:extLst>
          </p:cNvPr>
          <p:cNvSpPr/>
          <p:nvPr/>
        </p:nvSpPr>
        <p:spPr>
          <a:xfrm>
            <a:off x="366885" y="1920233"/>
            <a:ext cx="3610344" cy="108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>
              <a:lnSpc>
                <a:spcPts val="851"/>
              </a:lnSpc>
            </a:pPr>
            <a:r>
              <a:rPr lang="en-US" sz="567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Playwright: Coleta automática INPE</a:t>
            </a:r>
            <a:endParaRPr lang="en-US" sz="567" dirty="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xmlns="" id="{AC936B70-3C0D-FEA2-B511-17C52789E578}"/>
              </a:ext>
            </a:extLst>
          </p:cNvPr>
          <p:cNvSpPr/>
          <p:nvPr/>
        </p:nvSpPr>
        <p:spPr>
          <a:xfrm>
            <a:off x="366885" y="2057642"/>
            <a:ext cx="3504157" cy="108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>
              <a:lnSpc>
                <a:spcPts val="851"/>
              </a:lnSpc>
            </a:pPr>
            <a:r>
              <a:rPr lang="en-US" sz="567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Pandas: Processamento instantâneo</a:t>
            </a:r>
            <a:endParaRPr lang="en-US" sz="567" dirty="0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xmlns="" id="{CC2D1086-ED7B-4562-DD5B-051B7AC9D883}"/>
              </a:ext>
            </a:extLst>
          </p:cNvPr>
          <p:cNvSpPr/>
          <p:nvPr/>
        </p:nvSpPr>
        <p:spPr>
          <a:xfrm>
            <a:off x="3058960" y="747806"/>
            <a:ext cx="2442651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809"/>
              </a:lnSpc>
            </a:pPr>
            <a:r>
              <a:rPr lang="en-US" sz="638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de Resposta: Manual vs. Automatizado</a:t>
            </a:r>
            <a:endParaRPr lang="en-US" sz="638" dirty="0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xmlns="" id="{412097B9-1851-7F05-DF4F-3D6611ED1C68}"/>
              </a:ext>
            </a:extLst>
          </p:cNvPr>
          <p:cNvSpPr/>
          <p:nvPr/>
        </p:nvSpPr>
        <p:spPr>
          <a:xfrm>
            <a:off x="3029609" y="2311653"/>
            <a:ext cx="1162624" cy="733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78"/>
              </a:lnSpc>
            </a:pPr>
            <a:r>
              <a:rPr lang="en-US" sz="497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Rápidas</a:t>
            </a:r>
            <a:endParaRPr lang="en-US" sz="497" dirty="0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xmlns="" id="{F9200179-74F0-53F7-310A-D800DB127B75}"/>
              </a:ext>
            </a:extLst>
          </p:cNvPr>
          <p:cNvSpPr/>
          <p:nvPr/>
        </p:nvSpPr>
        <p:spPr>
          <a:xfrm>
            <a:off x="3029609" y="2385030"/>
            <a:ext cx="1162624" cy="587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2"/>
              </a:lnSpc>
            </a:pPr>
            <a:r>
              <a:rPr lang="en-US" sz="426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Minutos vs Horas</a:t>
            </a:r>
            <a:endParaRPr lang="en-US" sz="426" dirty="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xmlns="" id="{BA4EBF3F-B5BB-32AA-7958-ED60E90A8621}"/>
              </a:ext>
            </a:extLst>
          </p:cNvPr>
          <p:cNvSpPr/>
          <p:nvPr/>
        </p:nvSpPr>
        <p:spPr>
          <a:xfrm>
            <a:off x="4368338" y="2311653"/>
            <a:ext cx="1162624" cy="733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78"/>
              </a:lnSpc>
            </a:pPr>
            <a:r>
              <a:rPr lang="en-US" sz="497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Bioma Protegido</a:t>
            </a:r>
            <a:endParaRPr lang="en-US" sz="497" dirty="0"/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xmlns="" id="{6A958EEA-AAF9-CD69-05AD-D054C16AE2E3}"/>
              </a:ext>
            </a:extLst>
          </p:cNvPr>
          <p:cNvSpPr/>
          <p:nvPr/>
        </p:nvSpPr>
        <p:spPr>
          <a:xfrm>
            <a:off x="4368338" y="2385030"/>
            <a:ext cx="1162624" cy="587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2"/>
              </a:lnSpc>
            </a:pPr>
            <a:r>
              <a:rPr lang="en-US" sz="426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de danos</a:t>
            </a:r>
            <a:endParaRPr lang="en-US" sz="426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xmlns="" id="{1CA8E609-846D-304D-8ABE-46657ACFD327}"/>
              </a:ext>
            </a:extLst>
          </p:cNvPr>
          <p:cNvSpPr/>
          <p:nvPr/>
        </p:nvSpPr>
        <p:spPr>
          <a:xfrm>
            <a:off x="264157" y="2728563"/>
            <a:ext cx="3048813" cy="102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09"/>
              </a:lnSpc>
            </a:pPr>
            <a:r>
              <a:rPr lang="en-US" sz="709" b="1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Real</a:t>
            </a:r>
            <a:endParaRPr lang="en-US" sz="709" dirty="0">
              <a:solidFill>
                <a:schemeClr val="tx1"/>
              </a:solidFill>
            </a:endParaRPr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xmlns="" id="{8BD59CDF-5914-3A88-E76E-1B1F935BDD30}"/>
              </a:ext>
            </a:extLst>
          </p:cNvPr>
          <p:cNvSpPr/>
          <p:nvPr/>
        </p:nvSpPr>
        <p:spPr>
          <a:xfrm>
            <a:off x="264157" y="2855870"/>
            <a:ext cx="5501643" cy="108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51"/>
              </a:lnSpc>
            </a:pPr>
            <a:r>
              <a:rPr lang="en-US" sz="567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crítica em situações onde cada minuto conta para salvar vidas e biodiversidade.</a:t>
            </a:r>
            <a:endParaRPr lang="en-US" sz="567" dirty="0"/>
          </a:p>
        </p:txBody>
      </p:sp>
    </p:spTree>
    <p:extLst>
      <p:ext uri="{BB962C8B-B14F-4D97-AF65-F5344CB8AC3E}">
        <p14:creationId xmlns:p14="http://schemas.microsoft.com/office/powerpoint/2010/main" val="22543670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3202040"/>
              <a:ext cx="1222375" cy="38100"/>
            </a:xfrm>
            <a:custGeom>
              <a:avLst/>
              <a:gdLst/>
              <a:ahLst/>
              <a:cxnLst/>
              <a:rect l="l" t="t" r="r" b="b"/>
              <a:pathLst>
                <a:path w="1222375" h="38100">
                  <a:moveTo>
                    <a:pt x="0" y="37958"/>
                  </a:moveTo>
                  <a:lnTo>
                    <a:pt x="0" y="0"/>
                  </a:lnTo>
                  <a:lnTo>
                    <a:pt x="1221782" y="0"/>
                  </a:lnTo>
                  <a:lnTo>
                    <a:pt x="1221782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1221782" cy="3795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xmlns="" id="{823CC1C2-C2B7-C865-FB96-54BCECAE9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10" y="853302"/>
            <a:ext cx="206389" cy="206389"/>
          </a:xfrm>
          <a:prstGeom prst="rect">
            <a:avLst/>
          </a:prstGeom>
        </p:spPr>
      </p:pic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xmlns="" id="{8350CC16-DFFE-6E18-F8F9-88C7E1CC6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94" y="904669"/>
            <a:ext cx="121622" cy="103598"/>
          </a:xfrm>
          <a:prstGeom prst="rect">
            <a:avLst/>
          </a:prstGeom>
        </p:spPr>
      </p:pic>
      <p:pic>
        <p:nvPicPr>
          <p:cNvPr id="28" name="Image 6" descr="preencoded.png">
            <a:extLst>
              <a:ext uri="{FF2B5EF4-FFF2-40B4-BE49-F238E27FC236}">
                <a16:creationId xmlns:a16="http://schemas.microsoft.com/office/drawing/2014/main" xmlns="" id="{E9275B16-B32B-D07D-9729-55B93148EC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818" y="853302"/>
            <a:ext cx="206389" cy="206389"/>
          </a:xfrm>
          <a:prstGeom prst="rect">
            <a:avLst/>
          </a:prstGeom>
        </p:spPr>
      </p:pic>
      <p:pic>
        <p:nvPicPr>
          <p:cNvPr id="29" name="Image 7" descr="preencoded.png">
            <a:extLst>
              <a:ext uri="{FF2B5EF4-FFF2-40B4-BE49-F238E27FC236}">
                <a16:creationId xmlns:a16="http://schemas.microsoft.com/office/drawing/2014/main" xmlns="" id="{269FAA21-6944-E7B2-E4EE-905F142F76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572" y="903056"/>
            <a:ext cx="106880" cy="106880"/>
          </a:xfrm>
          <a:prstGeom prst="rect">
            <a:avLst/>
          </a:prstGeom>
        </p:spPr>
      </p:pic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xmlns="" id="{F3BD7C46-27FD-54EC-961B-3729B04152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1825" y="853302"/>
            <a:ext cx="206389" cy="206389"/>
          </a:xfrm>
          <a:prstGeom prst="rect">
            <a:avLst/>
          </a:prstGeom>
        </p:spPr>
      </p:pic>
      <p:pic>
        <p:nvPicPr>
          <p:cNvPr id="32" name="Image 10" descr="preencoded.png">
            <a:extLst>
              <a:ext uri="{FF2B5EF4-FFF2-40B4-BE49-F238E27FC236}">
                <a16:creationId xmlns:a16="http://schemas.microsoft.com/office/drawing/2014/main" xmlns="" id="{E4666540-EE2A-A4D5-B923-0CF49C1366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1580" y="903056"/>
            <a:ext cx="106880" cy="106880"/>
          </a:xfrm>
          <a:prstGeom prst="rect">
            <a:avLst/>
          </a:prstGeom>
        </p:spPr>
      </p:pic>
      <p:sp>
        <p:nvSpPr>
          <p:cNvPr id="35" name="Text 0">
            <a:extLst>
              <a:ext uri="{FF2B5EF4-FFF2-40B4-BE49-F238E27FC236}">
                <a16:creationId xmlns:a16="http://schemas.microsoft.com/office/drawing/2014/main" xmlns="" id="{4CB74963-C703-2C29-CEFF-80C358B439DD}"/>
              </a:ext>
            </a:extLst>
          </p:cNvPr>
          <p:cNvSpPr/>
          <p:nvPr/>
        </p:nvSpPr>
        <p:spPr>
          <a:xfrm>
            <a:off x="235874" y="236668"/>
            <a:ext cx="5294027" cy="2162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702"/>
              </a:lnSpc>
            </a:pPr>
            <a:r>
              <a:rPr lang="en-US" sz="1702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 e </a:t>
            </a:r>
            <a:r>
              <a:rPr lang="en-US" sz="1702" b="1" dirty="0">
                <a:solidFill>
                  <a:srgbClr val="A50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Tecnológico</a:t>
            </a:r>
            <a:endParaRPr lang="en-US" sz="1702" dirty="0">
              <a:solidFill>
                <a:srgbClr val="A50033"/>
              </a:solidFill>
            </a:endParaRP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xmlns="" id="{1A65F73F-17C9-775E-3D16-58C15AF8FD81}"/>
              </a:ext>
            </a:extLst>
          </p:cNvPr>
          <p:cNvSpPr/>
          <p:nvPr/>
        </p:nvSpPr>
        <p:spPr>
          <a:xfrm>
            <a:off x="353810" y="1148144"/>
            <a:ext cx="1849858" cy="103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12"/>
              </a:lnSpc>
            </a:pPr>
            <a:r>
              <a:rPr lang="en-US" sz="709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Social</a:t>
            </a:r>
            <a:endParaRPr lang="en-US" sz="709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xmlns="" id="{1BDF00C2-F75B-87CC-343B-867F7C0ABF4E}"/>
              </a:ext>
            </a:extLst>
          </p:cNvPr>
          <p:cNvSpPr/>
          <p:nvPr/>
        </p:nvSpPr>
        <p:spPr>
          <a:xfrm>
            <a:off x="353810" y="1295565"/>
            <a:ext cx="1450197" cy="351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22"/>
              </a:lnSpc>
            </a:pPr>
            <a:r>
              <a:rPr lang="en-US" sz="567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de vidas humanas e saúde pública através do monitoramento em tempo real de focos críticos.</a:t>
            </a:r>
            <a:endParaRPr lang="en-US" sz="567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xmlns="" id="{34DAE105-025B-78D6-BFD4-EFC1C36B74A1}"/>
              </a:ext>
            </a:extLst>
          </p:cNvPr>
          <p:cNvSpPr/>
          <p:nvPr/>
        </p:nvSpPr>
        <p:spPr>
          <a:xfrm>
            <a:off x="2157818" y="1148144"/>
            <a:ext cx="2774786" cy="103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12"/>
              </a:lnSpc>
            </a:pPr>
            <a:r>
              <a:rPr lang="en-US" sz="709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Preservação Ambiental</a:t>
            </a:r>
            <a:endParaRPr lang="en-US" sz="709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xmlns="" id="{66D280BE-2E30-FB42-4BF1-951D4FC76315}"/>
              </a:ext>
            </a:extLst>
          </p:cNvPr>
          <p:cNvSpPr/>
          <p:nvPr/>
        </p:nvSpPr>
        <p:spPr>
          <a:xfrm>
            <a:off x="2157818" y="1295565"/>
            <a:ext cx="1450197" cy="351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22"/>
              </a:lnSpc>
            </a:pPr>
            <a:r>
              <a:rPr lang="en-US" sz="567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Ações rápidas para salvar biomas como a Amazônia, reduzindo o impacto das mudanças climáticas.</a:t>
            </a:r>
            <a:endParaRPr lang="en-US" sz="567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xmlns="" id="{1C0EC3C7-521C-FD1D-44C7-26930F1CABED}"/>
              </a:ext>
            </a:extLst>
          </p:cNvPr>
          <p:cNvSpPr/>
          <p:nvPr/>
        </p:nvSpPr>
        <p:spPr>
          <a:xfrm>
            <a:off x="3961825" y="1295565"/>
            <a:ext cx="1450197" cy="351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922"/>
              </a:lnSpc>
            </a:pPr>
            <a:r>
              <a:rPr lang="en-US" sz="567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Minimização de perdas bilionárias no agronegócio por meio de alertas proativos e automação.</a:t>
            </a:r>
            <a:endParaRPr lang="en-US" sz="567" dirty="0"/>
          </a:p>
        </p:txBody>
      </p:sp>
      <p:grpSp>
        <p:nvGrpSpPr>
          <p:cNvPr id="49" name="object 5">
            <a:extLst>
              <a:ext uri="{FF2B5EF4-FFF2-40B4-BE49-F238E27FC236}">
                <a16:creationId xmlns:a16="http://schemas.microsoft.com/office/drawing/2014/main" xmlns="" id="{955103DF-34B4-7CE9-6AE1-CB5E8E6055CC}"/>
              </a:ext>
            </a:extLst>
          </p:cNvPr>
          <p:cNvGrpSpPr/>
          <p:nvPr/>
        </p:nvGrpSpPr>
        <p:grpSpPr>
          <a:xfrm>
            <a:off x="284428" y="2038845"/>
            <a:ext cx="5040630" cy="802779"/>
            <a:chOff x="359994" y="1985771"/>
            <a:chExt cx="5040630" cy="601980"/>
          </a:xfrm>
        </p:grpSpPr>
        <p:sp>
          <p:nvSpPr>
            <p:cNvPr id="50" name="object 6">
              <a:extLst>
                <a:ext uri="{FF2B5EF4-FFF2-40B4-BE49-F238E27FC236}">
                  <a16:creationId xmlns:a16="http://schemas.microsoft.com/office/drawing/2014/main" xmlns="" id="{853A6844-687D-5B33-A30B-9B012AE6CDBD}"/>
                </a:ext>
              </a:extLst>
            </p:cNvPr>
            <p:cNvSpPr/>
            <p:nvPr/>
          </p:nvSpPr>
          <p:spPr>
            <a:xfrm>
              <a:off x="359994" y="1985771"/>
              <a:ext cx="5040630" cy="601980"/>
            </a:xfrm>
            <a:custGeom>
              <a:avLst/>
              <a:gdLst/>
              <a:ahLst/>
              <a:cxnLst/>
              <a:rect l="l" t="t" r="r" b="b"/>
              <a:pathLst>
                <a:path w="5040630" h="601980">
                  <a:moveTo>
                    <a:pt x="4997738" y="0"/>
                  </a:moveTo>
                  <a:lnTo>
                    <a:pt x="42326" y="0"/>
                  </a:lnTo>
                  <a:lnTo>
                    <a:pt x="25851" y="3326"/>
                  </a:lnTo>
                  <a:lnTo>
                    <a:pt x="12397" y="12397"/>
                  </a:lnTo>
                  <a:lnTo>
                    <a:pt x="3326" y="25851"/>
                  </a:lnTo>
                  <a:lnTo>
                    <a:pt x="0" y="42326"/>
                  </a:lnTo>
                  <a:lnTo>
                    <a:pt x="0" y="559171"/>
                  </a:lnTo>
                  <a:lnTo>
                    <a:pt x="3326" y="575646"/>
                  </a:lnTo>
                  <a:lnTo>
                    <a:pt x="12397" y="589100"/>
                  </a:lnTo>
                  <a:lnTo>
                    <a:pt x="25851" y="598171"/>
                  </a:lnTo>
                  <a:lnTo>
                    <a:pt x="42326" y="601498"/>
                  </a:lnTo>
                  <a:lnTo>
                    <a:pt x="4997738" y="601498"/>
                  </a:lnTo>
                  <a:lnTo>
                    <a:pt x="5014213" y="598171"/>
                  </a:lnTo>
                  <a:lnTo>
                    <a:pt x="5027667" y="589100"/>
                  </a:lnTo>
                  <a:lnTo>
                    <a:pt x="5036738" y="575646"/>
                  </a:lnTo>
                  <a:lnTo>
                    <a:pt x="5040064" y="559171"/>
                  </a:lnTo>
                  <a:lnTo>
                    <a:pt x="5040064" y="42326"/>
                  </a:lnTo>
                  <a:lnTo>
                    <a:pt x="5036738" y="25851"/>
                  </a:lnTo>
                  <a:lnTo>
                    <a:pt x="5027667" y="12397"/>
                  </a:lnTo>
                  <a:lnTo>
                    <a:pt x="5014213" y="3326"/>
                  </a:lnTo>
                  <a:lnTo>
                    <a:pt x="4997738" y="0"/>
                  </a:lnTo>
                  <a:close/>
                </a:path>
              </a:pathLst>
            </a:custGeom>
            <a:solidFill>
              <a:srgbClr val="A08C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7">
              <a:extLst>
                <a:ext uri="{FF2B5EF4-FFF2-40B4-BE49-F238E27FC236}">
                  <a16:creationId xmlns:a16="http://schemas.microsoft.com/office/drawing/2014/main" xmlns="" id="{A94A40C7-A90D-486D-3E4A-7527BEB4FC34}"/>
                </a:ext>
              </a:extLst>
            </p:cNvPr>
            <p:cNvSpPr/>
            <p:nvPr/>
          </p:nvSpPr>
          <p:spPr>
            <a:xfrm>
              <a:off x="366320" y="2171241"/>
              <a:ext cx="5027930" cy="410209"/>
            </a:xfrm>
            <a:custGeom>
              <a:avLst/>
              <a:gdLst/>
              <a:ahLst/>
              <a:cxnLst/>
              <a:rect l="l" t="t" r="r" b="b"/>
              <a:pathLst>
                <a:path w="5027930" h="410210">
                  <a:moveTo>
                    <a:pt x="5027412" y="0"/>
                  </a:moveTo>
                  <a:lnTo>
                    <a:pt x="0" y="0"/>
                  </a:lnTo>
                  <a:lnTo>
                    <a:pt x="0" y="373701"/>
                  </a:lnTo>
                  <a:lnTo>
                    <a:pt x="2829" y="387714"/>
                  </a:lnTo>
                  <a:lnTo>
                    <a:pt x="10544" y="399157"/>
                  </a:lnTo>
                  <a:lnTo>
                    <a:pt x="21987" y="406872"/>
                  </a:lnTo>
                  <a:lnTo>
                    <a:pt x="36000" y="409701"/>
                  </a:lnTo>
                  <a:lnTo>
                    <a:pt x="4991411" y="409701"/>
                  </a:lnTo>
                  <a:lnTo>
                    <a:pt x="5005425" y="406872"/>
                  </a:lnTo>
                  <a:lnTo>
                    <a:pt x="5016868" y="399157"/>
                  </a:lnTo>
                  <a:lnTo>
                    <a:pt x="5024583" y="387714"/>
                  </a:lnTo>
                  <a:lnTo>
                    <a:pt x="5027412" y="373701"/>
                  </a:lnTo>
                  <a:lnTo>
                    <a:pt x="5027412" y="0"/>
                  </a:lnTo>
                  <a:close/>
                </a:path>
              </a:pathLst>
            </a:custGeom>
            <a:solidFill>
              <a:srgbClr val="FAF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" name="Image 12" descr="preencoded.png">
            <a:extLst>
              <a:ext uri="{FF2B5EF4-FFF2-40B4-BE49-F238E27FC236}">
                <a16:creationId xmlns:a16="http://schemas.microsoft.com/office/drawing/2014/main" xmlns="" id="{08125D9A-D279-0D92-4523-6CBAC2A28A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8037" y="2322617"/>
            <a:ext cx="2194443" cy="255568"/>
          </a:xfrm>
          <a:prstGeom prst="rect">
            <a:avLst/>
          </a:prstGeom>
        </p:spPr>
      </p:pic>
      <p:sp>
        <p:nvSpPr>
          <p:cNvPr id="53" name="Text 7">
            <a:extLst>
              <a:ext uri="{FF2B5EF4-FFF2-40B4-BE49-F238E27FC236}">
                <a16:creationId xmlns:a16="http://schemas.microsoft.com/office/drawing/2014/main" xmlns="" id="{E618CA70-C6E4-D51A-E88D-B4064025B17F}"/>
              </a:ext>
            </a:extLst>
          </p:cNvPr>
          <p:cNvSpPr/>
          <p:nvPr/>
        </p:nvSpPr>
        <p:spPr>
          <a:xfrm>
            <a:off x="384955" y="2109956"/>
            <a:ext cx="4162191" cy="1326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045"/>
              </a:lnSpc>
            </a:pPr>
            <a:r>
              <a:rPr lang="en-US" sz="1064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Urgência em Números</a:t>
            </a:r>
            <a:endParaRPr lang="en-US" sz="1064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xmlns="" id="{0A115DFC-5280-AF31-7466-AC68C84989D3}"/>
              </a:ext>
            </a:extLst>
          </p:cNvPr>
          <p:cNvSpPr/>
          <p:nvPr/>
        </p:nvSpPr>
        <p:spPr>
          <a:xfrm>
            <a:off x="383295" y="2339836"/>
            <a:ext cx="2682443" cy="412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812"/>
              </a:lnSpc>
            </a:pPr>
            <a:r>
              <a:rPr lang="en-US" sz="638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2024, a falta de monitoramento ágil contribuiu para perdas de </a:t>
            </a:r>
            <a:r>
              <a:rPr lang="en-US" sz="638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R$ 48 bilhões</a:t>
            </a:r>
            <a:r>
              <a:rPr lang="en-US" sz="638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agronegócio brasileiro. A tecnologia Python reduz o tempo de resposta de </a:t>
            </a:r>
            <a:r>
              <a:rPr lang="en-US" sz="638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horas para minutos</a:t>
            </a:r>
            <a:r>
              <a:rPr lang="en-US" sz="638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xmlns="" id="{3E35C69A-1C32-9AB4-619C-EFEB92C9778B}"/>
              </a:ext>
            </a:extLst>
          </p:cNvPr>
          <p:cNvSpPr/>
          <p:nvPr/>
        </p:nvSpPr>
        <p:spPr>
          <a:xfrm>
            <a:off x="3364942" y="2322618"/>
            <a:ext cx="991925" cy="147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161"/>
              </a:lnSpc>
            </a:pPr>
            <a:r>
              <a:rPr lang="en-US" sz="1277" b="1" dirty="0">
                <a:solidFill>
                  <a:srgbClr val="A500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79%</a:t>
            </a:r>
            <a:endParaRPr lang="en-US" sz="1277" dirty="0">
              <a:solidFill>
                <a:srgbClr val="A50033"/>
              </a:solidFill>
            </a:endParaRP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xmlns="" id="{B543DCFC-5053-1579-3978-03F555B7F8A7}"/>
              </a:ext>
            </a:extLst>
          </p:cNvPr>
          <p:cNvSpPr/>
          <p:nvPr/>
        </p:nvSpPr>
        <p:spPr>
          <a:xfrm>
            <a:off x="3364942" y="2492152"/>
            <a:ext cx="991925" cy="737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4"/>
              </a:lnSpc>
            </a:pPr>
            <a:r>
              <a:rPr lang="en-US" sz="426" spc="42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AUMENTO EM ÁREAS QUEIMADAS</a:t>
            </a:r>
            <a:endParaRPr lang="en-US" sz="426" dirty="0">
              <a:solidFill>
                <a:schemeClr val="tx1"/>
              </a:solidFill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xmlns="" id="{1FF7BCBF-3F69-2676-F01D-D7F640340E67}"/>
              </a:ext>
            </a:extLst>
          </p:cNvPr>
          <p:cNvSpPr/>
          <p:nvPr/>
        </p:nvSpPr>
        <p:spPr>
          <a:xfrm>
            <a:off x="4533772" y="2322618"/>
            <a:ext cx="848708" cy="147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161"/>
              </a:lnSpc>
            </a:pPr>
            <a:r>
              <a:rPr lang="en-US" sz="1277" b="1" dirty="0">
                <a:solidFill>
                  <a:srgbClr val="A500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 min</a:t>
            </a:r>
            <a:endParaRPr lang="en-US" sz="1277" dirty="0">
              <a:solidFill>
                <a:srgbClr val="A50033"/>
              </a:solidFill>
            </a:endParaRPr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xmlns="" id="{8B9F2B0B-3A8A-A0C2-781B-EDCE5C4349A5}"/>
              </a:ext>
            </a:extLst>
          </p:cNvPr>
          <p:cNvSpPr/>
          <p:nvPr/>
        </p:nvSpPr>
        <p:spPr>
          <a:xfrm>
            <a:off x="4533772" y="2492152"/>
            <a:ext cx="848707" cy="737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464"/>
              </a:lnSpc>
            </a:pPr>
            <a:r>
              <a:rPr lang="en-US" sz="426" spc="42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DE PROCESSAMENTO</a:t>
            </a:r>
            <a:endParaRPr lang="en-US" sz="426" dirty="0">
              <a:solidFill>
                <a:schemeClr val="tx1"/>
              </a:solidFill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xmlns="" id="{F01EA4AA-0154-920C-72B3-E223F7D99439}"/>
              </a:ext>
            </a:extLst>
          </p:cNvPr>
          <p:cNvSpPr/>
          <p:nvPr/>
        </p:nvSpPr>
        <p:spPr>
          <a:xfrm>
            <a:off x="235874" y="2900036"/>
            <a:ext cx="5294027" cy="1081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851"/>
              </a:lnSpc>
            </a:pPr>
            <a:r>
              <a:rPr lang="en-US" sz="567" i="1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"Tecnologia bem aplicada transforma dados brutos em decisões que salvam o futuro."</a:t>
            </a:r>
            <a:endParaRPr lang="en-US" sz="567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880" y="76884"/>
            <a:ext cx="4876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200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Transformação dos dados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 flipV="1">
            <a:off x="596900" y="357505"/>
            <a:ext cx="3962400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C1FA9BFF-6827-09EE-977D-9FAE133EF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31825"/>
            <a:ext cx="1981200" cy="24913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38A7C740-FE16-2C7B-12D9-C0CEBF776A82}"/>
              </a:ext>
            </a:extLst>
          </p:cNvPr>
          <p:cNvSpPr txBox="1"/>
          <p:nvPr/>
        </p:nvSpPr>
        <p:spPr>
          <a:xfrm>
            <a:off x="2806700" y="1241425"/>
            <a:ext cx="2852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i="0" dirty="0"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Hoje, ao entrar no site, consigo baixar o arquivo, mas ele só vem com as coordenadas de latitude e longitude e alguns metadados mínimos.</a:t>
            </a:r>
            <a:endParaRPr lang="pt-BR" sz="1000" b="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-12700" y="3076328"/>
            <a:ext cx="5760085" cy="152400"/>
            <a:chOff x="0" y="3088165"/>
            <a:chExt cx="5760085" cy="1524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202040"/>
              <a:ext cx="2793365" cy="38100"/>
            </a:xfrm>
            <a:custGeom>
              <a:avLst/>
              <a:gdLst/>
              <a:ahLst/>
              <a:cxnLst/>
              <a:rect l="l" t="t" r="r" b="b"/>
              <a:pathLst>
                <a:path w="2793365" h="38100">
                  <a:moveTo>
                    <a:pt x="0" y="37958"/>
                  </a:moveTo>
                  <a:lnTo>
                    <a:pt x="0" y="0"/>
                  </a:lnTo>
                  <a:lnTo>
                    <a:pt x="2792760" y="0"/>
                  </a:lnTo>
                  <a:lnTo>
                    <a:pt x="2792760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2792760" cy="3795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38A7C740-FE16-2C7B-12D9-C0CEBF776A82}"/>
              </a:ext>
            </a:extLst>
          </p:cNvPr>
          <p:cNvSpPr txBox="1"/>
          <p:nvPr/>
        </p:nvSpPr>
        <p:spPr>
          <a:xfrm>
            <a:off x="3980180" y="1304030"/>
            <a:ext cx="16738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rgbClr val="A500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o projeto conseguimos transformar esse dado bruto em um conjunto de informações tratadas e prontas para análise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2C4D83A3-D0EE-3276-C238-80A6B5898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631825"/>
            <a:ext cx="3748964" cy="2360074"/>
          </a:xfrm>
          <a:prstGeom prst="rect">
            <a:avLst/>
          </a:prstGeom>
        </p:spPr>
      </p:pic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8CF347DE-469D-F5AC-04AE-1F964BF1AB47}"/>
              </a:ext>
            </a:extLst>
          </p:cNvPr>
          <p:cNvSpPr txBox="1">
            <a:spLocks/>
          </p:cNvSpPr>
          <p:nvPr/>
        </p:nvSpPr>
        <p:spPr>
          <a:xfrm>
            <a:off x="136270" y="96088"/>
            <a:ext cx="4876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20"/>
              </a:spcBef>
            </a:pPr>
            <a:r>
              <a:rPr lang="pt-BR" sz="2000" b="1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Transformação dos dados</a:t>
            </a:r>
            <a:endParaRPr lang="pt-BR" sz="1400" b="1" dirty="0">
              <a:solidFill>
                <a:srgbClr val="A500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xmlns="" id="{C716A19C-7C28-4103-6C25-678EB0C373A6}"/>
              </a:ext>
            </a:extLst>
          </p:cNvPr>
          <p:cNvSpPr/>
          <p:nvPr/>
        </p:nvSpPr>
        <p:spPr>
          <a:xfrm flipV="1">
            <a:off x="169290" y="376709"/>
            <a:ext cx="3962400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 b="1">
              <a:solidFill>
                <a:srgbClr val="A50033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202040"/>
              <a:ext cx="2618740" cy="38100"/>
            </a:xfrm>
            <a:custGeom>
              <a:avLst/>
              <a:gdLst/>
              <a:ahLst/>
              <a:cxnLst/>
              <a:rect l="l" t="t" r="r" b="b"/>
              <a:pathLst>
                <a:path w="2618740" h="38100">
                  <a:moveTo>
                    <a:pt x="0" y="37958"/>
                  </a:moveTo>
                  <a:lnTo>
                    <a:pt x="0" y="0"/>
                  </a:lnTo>
                  <a:lnTo>
                    <a:pt x="2618207" y="0"/>
                  </a:lnTo>
                  <a:lnTo>
                    <a:pt x="2618207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02040"/>
              <a:ext cx="2618207" cy="3795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6E91E0EB-4DDE-9CFC-72C1-6074636CE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807" y="89440"/>
            <a:ext cx="4876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200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Transformação dos dados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xmlns="" id="{91F17E25-78B6-7116-5102-D62CF0350DBA}"/>
              </a:ext>
            </a:extLst>
          </p:cNvPr>
          <p:cNvSpPr/>
          <p:nvPr/>
        </p:nvSpPr>
        <p:spPr>
          <a:xfrm flipV="1">
            <a:off x="212827" y="370061"/>
            <a:ext cx="3962400" cy="45719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12649">
            <a:solidFill>
              <a:srgbClr val="DB9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xmlns="" id="{0825300A-F015-EDC7-5674-EC996CA6E3B6}"/>
              </a:ext>
            </a:extLst>
          </p:cNvPr>
          <p:cNvSpPr txBox="1"/>
          <p:nvPr/>
        </p:nvSpPr>
        <p:spPr>
          <a:xfrm>
            <a:off x="3722370" y="1393825"/>
            <a:ext cx="16738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000" b="1" dirty="0">
                <a:solidFill>
                  <a:srgbClr val="A500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Geração de mapa de calor interativo em HTML, permitindo visualização em tempo real pelo usuário.</a:t>
            </a:r>
            <a:endParaRPr kumimoji="0" lang="pt-BR" altLang="pt-BR" sz="1000" b="1" i="0" u="none" strike="noStrike" cap="none" normalizeH="0" baseline="0" dirty="0">
              <a:ln>
                <a:noFill/>
              </a:ln>
              <a:solidFill>
                <a:srgbClr val="A500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xmlns="" id="{BAC69ADD-3827-7D91-B3D7-2D12C7D74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" y="555625"/>
            <a:ext cx="3182193" cy="245597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"/>
            <a:ext cx="5759988" cy="32399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90763" y="1181580"/>
            <a:ext cx="19786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35"/>
              </a:spcBef>
            </a:pPr>
            <a:r>
              <a:rPr sz="1400" b="1" spc="-90" dirty="0" err="1">
                <a:solidFill>
                  <a:srgbClr val="FFFFFF"/>
                </a:solidFill>
                <a:latin typeface="Tahoma"/>
                <a:cs typeface="Tahoma"/>
              </a:rPr>
              <a:t>Demonstração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95" y="403225"/>
            <a:ext cx="2225675" cy="431800"/>
          </a:xfrm>
          <a:prstGeom prst="rect">
            <a:avLst/>
          </a:prstGeom>
        </p:spPr>
        <p:txBody>
          <a:bodyPr vert="horz" wrap="square" lIns="0" tIns="515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Referências</a:t>
            </a:r>
          </a:p>
        </p:txBody>
      </p:sp>
      <p:sp>
        <p:nvSpPr>
          <p:cNvPr id="3" name="object 3"/>
          <p:cNvSpPr/>
          <p:nvPr/>
        </p:nvSpPr>
        <p:spPr>
          <a:xfrm>
            <a:off x="361695" y="735020"/>
            <a:ext cx="1764030" cy="0"/>
          </a:xfrm>
          <a:custGeom>
            <a:avLst/>
            <a:gdLst/>
            <a:ahLst/>
            <a:cxnLst/>
            <a:rect l="l" t="t" r="r" b="b"/>
            <a:pathLst>
              <a:path w="1764030">
                <a:moveTo>
                  <a:pt x="0" y="0"/>
                </a:moveTo>
                <a:lnTo>
                  <a:pt x="1764030" y="0"/>
                </a:lnTo>
              </a:path>
            </a:pathLst>
          </a:custGeom>
          <a:ln w="12649">
            <a:solidFill>
              <a:srgbClr val="A5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95414" y="1206187"/>
            <a:ext cx="106680" cy="144780"/>
            <a:chOff x="395414" y="1206187"/>
            <a:chExt cx="106680" cy="144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54" y="1208727"/>
              <a:ext cx="101219" cy="1391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7954" y="120872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606" y="122770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259" y="124668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606" y="127831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90" y="1275150"/>
              <a:ext cx="31635" cy="442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4890" y="132892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868" y="12087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93712" y="1213002"/>
            <a:ext cx="411607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800" spc="-50" dirty="0" err="1">
                <a:solidFill>
                  <a:srgbClr val="A50033"/>
                </a:solidFill>
                <a:latin typeface="Trebuchet MS"/>
                <a:cs typeface="Trebuchet MS"/>
              </a:rPr>
              <a:t>Github</a:t>
            </a:r>
            <a:r>
              <a:rPr lang="pt-BR" sz="800" spc="-50" dirty="0">
                <a:solidFill>
                  <a:srgbClr val="A50033"/>
                </a:solidFill>
                <a:latin typeface="Trebuchet MS"/>
                <a:cs typeface="Trebuchet MS"/>
              </a:rPr>
              <a:t> do projeto </a:t>
            </a:r>
            <a:r>
              <a:rPr sz="800" spc="-60" dirty="0">
                <a:solidFill>
                  <a:srgbClr val="A50033"/>
                </a:solidFill>
                <a:latin typeface="Trebuchet MS"/>
                <a:cs typeface="Trebuchet MS"/>
              </a:rPr>
              <a:t>.</a:t>
            </a:r>
            <a:r>
              <a:rPr sz="800" spc="-30" dirty="0">
                <a:solidFill>
                  <a:srgbClr val="A50033"/>
                </a:solidFill>
                <a:latin typeface="Trebuchet MS"/>
                <a:cs typeface="Trebuchet MS"/>
              </a:rPr>
              <a:t> </a:t>
            </a:r>
            <a:r>
              <a:rPr sz="800" spc="-45" dirty="0">
                <a:solidFill>
                  <a:srgbClr val="A50033"/>
                </a:solidFill>
                <a:latin typeface="Trebuchet MS"/>
                <a:cs typeface="Trebuchet MS"/>
              </a:rPr>
              <a:t>Disponível</a:t>
            </a:r>
            <a:r>
              <a:rPr sz="800" spc="-25" dirty="0">
                <a:solidFill>
                  <a:srgbClr val="A50033"/>
                </a:solidFill>
                <a:latin typeface="Trebuchet MS"/>
                <a:cs typeface="Trebuchet MS"/>
              </a:rPr>
              <a:t> </a:t>
            </a:r>
            <a:r>
              <a:rPr sz="800" spc="-105" dirty="0">
                <a:solidFill>
                  <a:srgbClr val="A50033"/>
                </a:solidFill>
                <a:latin typeface="Trebuchet MS"/>
                <a:cs typeface="Trebuchet MS"/>
              </a:rPr>
              <a:t>em:</a:t>
            </a:r>
            <a:r>
              <a:rPr sz="800" spc="50" dirty="0">
                <a:solidFill>
                  <a:srgbClr val="A50033"/>
                </a:solidFill>
                <a:latin typeface="Trebuchet MS"/>
                <a:cs typeface="Trebuchet MS"/>
              </a:rPr>
              <a:t> </a:t>
            </a:r>
            <a:r>
              <a:rPr lang="pt-BR" sz="650" spc="-20" dirty="0" err="1">
                <a:solidFill>
                  <a:srgbClr val="A50033"/>
                </a:solidFill>
                <a:latin typeface="Trebuchet MS"/>
                <a:cs typeface="Trebuchet MS"/>
                <a:hlinkClick r:id="rId4"/>
              </a:rPr>
              <a:t>monitoramento_de_queimadas</a:t>
            </a:r>
            <a:endParaRPr sz="800" dirty="0">
              <a:latin typeface="Trebuchet MS"/>
              <a:cs typeface="Trebuchet M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0" y="3088165"/>
            <a:ext cx="5760085" cy="152400"/>
            <a:chOff x="0" y="3088165"/>
            <a:chExt cx="5760085" cy="152400"/>
          </a:xfrm>
        </p:grpSpPr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088165"/>
              <a:ext cx="5760074" cy="15183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0" y="3202040"/>
              <a:ext cx="5760085" cy="38100"/>
            </a:xfrm>
            <a:custGeom>
              <a:avLst/>
              <a:gdLst/>
              <a:ahLst/>
              <a:cxnLst/>
              <a:rect l="l" t="t" r="r" b="b"/>
              <a:pathLst>
                <a:path w="5760085" h="38100">
                  <a:moveTo>
                    <a:pt x="0" y="37958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1E0A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202040"/>
              <a:ext cx="5760073" cy="37958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9741" y="2721784"/>
            <a:ext cx="884521" cy="287937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xfrm>
            <a:off x="2098624" y="3076328"/>
            <a:ext cx="1563370" cy="981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5"/>
              </a:spcBef>
            </a:pPr>
            <a:r>
              <a:rPr spc="-50" dirty="0" err="1"/>
              <a:t>Projetos</a:t>
            </a:r>
            <a:r>
              <a:rPr spc="-25" dirty="0"/>
              <a:t> </a:t>
            </a:r>
            <a:r>
              <a:rPr dirty="0"/>
              <a:t>AX</a:t>
            </a:r>
            <a:r>
              <a:rPr spc="-30" dirty="0"/>
              <a:t> </a:t>
            </a:r>
            <a:r>
              <a:rPr spc="-10" dirty="0"/>
              <a:t>Academy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" y="5"/>
            <a:ext cx="5754206" cy="32399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1369" y="865480"/>
            <a:ext cx="1517336" cy="539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1369" y="1647306"/>
            <a:ext cx="1675931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b="1" spc="-55" dirty="0" err="1">
                <a:solidFill>
                  <a:srgbClr val="FFFFFF"/>
                </a:solidFill>
                <a:latin typeface="Tahoma"/>
                <a:cs typeface="Tahoma"/>
              </a:rPr>
              <a:t>Obrigad</a:t>
            </a:r>
            <a:r>
              <a:rPr lang="pt-BR" sz="1400" b="1" spc="-55" dirty="0">
                <a:solidFill>
                  <a:srgbClr val="FFFFFF"/>
                </a:solidFill>
                <a:latin typeface="Tahoma"/>
                <a:cs typeface="Tahoma"/>
              </a:rPr>
              <a:t>a Pela Atenção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!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8" name="object 10">
            <a:extLst>
              <a:ext uri="{FF2B5EF4-FFF2-40B4-BE49-F238E27FC236}">
                <a16:creationId xmlns:a16="http://schemas.microsoft.com/office/drawing/2014/main" xmlns="" id="{02F2CF5B-3D25-8DE0-3FCD-0461610D068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427" y="2971161"/>
            <a:ext cx="992593" cy="232761"/>
          </a:xfrm>
          <a:prstGeom prst="rect">
            <a:avLst/>
          </a:prstGeom>
        </p:spPr>
      </p:pic>
      <p:pic>
        <p:nvPicPr>
          <p:cNvPr id="2050" name="Picture 2" descr="LG Logo – PNG e Vetor – Download de Logo">
            <a:extLst>
              <a:ext uri="{FF2B5EF4-FFF2-40B4-BE49-F238E27FC236}">
                <a16:creationId xmlns:a16="http://schemas.microsoft.com/office/drawing/2014/main" xmlns="" id="{6CEFCF78-2A0B-F6C8-7D60-6C1956F05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90" y="3003290"/>
            <a:ext cx="405770" cy="17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olo">
            <a:extLst>
              <a:ext uri="{FF2B5EF4-FFF2-40B4-BE49-F238E27FC236}">
                <a16:creationId xmlns:a16="http://schemas.microsoft.com/office/drawing/2014/main" xmlns="" id="{C233A096-39A7-434B-DA28-CAA335481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65" y="3031999"/>
            <a:ext cx="442445" cy="15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rca Ifam — Portal do Instituto Federal do Amazonas">
            <a:extLst>
              <a:ext uri="{FF2B5EF4-FFF2-40B4-BE49-F238E27FC236}">
                <a16:creationId xmlns:a16="http://schemas.microsoft.com/office/drawing/2014/main" xmlns="" id="{5D9C3DEC-0431-E6AC-36C5-3DA44EACB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035" y="2998034"/>
            <a:ext cx="574930" cy="18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8" descr="Termos de Uso — FAEPI">
            <a:extLst>
              <a:ext uri="{FF2B5EF4-FFF2-40B4-BE49-F238E27FC236}">
                <a16:creationId xmlns:a16="http://schemas.microsoft.com/office/drawing/2014/main" xmlns="" id="{FC49773F-0C78-B48E-350E-6006C50538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0500" y="1470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8" name="Picture 10" descr="Termos de Uso — FAEPI">
            <a:extLst>
              <a:ext uri="{FF2B5EF4-FFF2-40B4-BE49-F238E27FC236}">
                <a16:creationId xmlns:a16="http://schemas.microsoft.com/office/drawing/2014/main" xmlns="" id="{F73C02DD-2110-02A6-FBA3-CE90F9D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190" y="2957602"/>
            <a:ext cx="412912" cy="23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511</Words>
  <Application>Microsoft Office PowerPoint</Application>
  <PresentationFormat>Personalizar</PresentationFormat>
  <Paragraphs>71</Paragraphs>
  <Slides>12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Aptos</vt:lpstr>
      <vt:lpstr>Arial</vt:lpstr>
      <vt:lpstr>Calibri</vt:lpstr>
      <vt:lpstr>Inter</vt:lpstr>
      <vt:lpstr>Montserrat</vt:lpstr>
      <vt:lpstr>Open Sans</vt:lpstr>
      <vt:lpstr>Tahoma</vt:lpstr>
      <vt:lpstr>Trebuchet MS</vt:lpstr>
      <vt:lpstr>Office Theme</vt:lpstr>
      <vt:lpstr>Apresentação do PowerPoint</vt:lpstr>
      <vt:lpstr>Apresentação do PowerPoint</vt:lpstr>
      <vt:lpstr>Fluxo da automação</vt:lpstr>
      <vt:lpstr>Apresentação do PowerPoint</vt:lpstr>
      <vt:lpstr>ESTUDO DE CASO</vt:lpstr>
      <vt:lpstr>Apresentação do PowerPoint</vt:lpstr>
      <vt:lpstr>Transformação dos dados</vt:lpstr>
      <vt:lpstr>Apresentação do PowerPoint</vt:lpstr>
      <vt:lpstr>Transformação dos dados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para Automação + RPA</dc:title>
  <dc:creator>Prof. Anderson Gadelha Fontoura</dc:creator>
  <cp:lastModifiedBy>turma02</cp:lastModifiedBy>
  <cp:revision>7</cp:revision>
  <dcterms:created xsi:type="dcterms:W3CDTF">2026-04-07T21:19:12Z</dcterms:created>
  <dcterms:modified xsi:type="dcterms:W3CDTF">2026-04-08T21:39:48Z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2026-04-07T00:00:00Z</vt:filetime>
  </property>
  <property fmtid="{D5CDD505-2E9C-101B-9397-08002B2CF9AE}" pid="5" name="PTEX.FullBanner">
    <vt:lpwstr>This is LuaHBTeX, Version 1.24.0 (MiKTeX 26.2)</vt:lpwstr>
  </property>
  <property fmtid="{D5CDD505-2E9C-101B-9397-08002B2CF9AE}" pid="6" name="Producer">
    <vt:lpwstr>LuaTeX-1.24.0</vt:lpwstr>
  </property>
</Properties>
</file>